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38118" y="1504950"/>
            <a:ext cx="486746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spcAft>
                <a:spcPts val="900"/>
              </a:spcAft>
              <a:buNone/>
            </a:pPr>
            <a:r>
              <a:rPr lang="en-US" sz="45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Databases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801262" y="2190750"/>
            <a:ext cx="55413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300"/>
              </a:spcBef>
              <a:spcAft>
                <a:spcPts val="2400"/>
              </a:spcAft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Powering the Next Generation of AI Agents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451027" y="2990850"/>
            <a:ext cx="571500" cy="38100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166987" y="2876550"/>
            <a:ext cx="8098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weave-cli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121325" y="2990850"/>
            <a:ext cx="571500" cy="38100"/>
          </a:xfrm>
          <a:prstGeom prst="rect">
            <a:avLst/>
          </a:prstGeom>
          <a:solidFill>
            <a:srgbClr val="7B2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801262" y="3409950"/>
            <a:ext cx="554132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18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Universal VDB Development Tool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4800"/>
            <a:ext cx="47508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E4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Vector Databases?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62000"/>
            <a:ext cx="762000" cy="28575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438275"/>
            <a:ext cx="5257800" cy="1228725"/>
          </a:xfrm>
          <a:prstGeom prst="roundRect">
            <a:avLst>
              <a:gd name="adj" fmla="val 6202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76250" y="1438275"/>
            <a:ext cx="0" cy="1228725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66875"/>
            <a:ext cx="4935474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databases optimized for storing and querying high-dimensional vector embeddings that represent semantic meaning of data.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2933700"/>
            <a:ext cx="53629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E4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Critical for AI Agents?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314700"/>
            <a:ext cx="525780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semantic search beyond keyword matching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RAG systems with contextual knowledge retrieval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real-time similarity search at scale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for LLM memory and context management</a:t>
            </a:r>
            <a:endParaRPr lang="en-US" sz="1350" dirty="0"/>
          </a:p>
        </p:txBody>
      </p:sp>
      <p:pic>
        <p:nvPicPr>
          <p:cNvPr id="9" name="Image 0" descr="/tmp/rasterized-gradient-2170278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9800" y="1566863"/>
            <a:ext cx="2667000" cy="28003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48400" y="1795463"/>
            <a:ext cx="22539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Growth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226302" y="2252663"/>
            <a:ext cx="22539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$2.2B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6226302" y="2786063"/>
            <a:ext cx="22539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Market Size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248400" y="3128963"/>
            <a:ext cx="2209800" cy="1905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226302" y="3300413"/>
            <a:ext cx="22539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2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$10.6B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6226302" y="3719512"/>
            <a:ext cx="22539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2032 Projection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226302" y="3948112"/>
            <a:ext cx="22539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23.5% CAGR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4800"/>
            <a:ext cx="757809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E4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They Work: Embeddings &amp; Vector Space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62000"/>
            <a:ext cx="762000" cy="28575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023938"/>
            <a:ext cx="36375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7B2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Process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04938"/>
            <a:ext cx="3566220" cy="106680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1595438"/>
            <a:ext cx="33266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Embedding Generation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600" y="1900238"/>
            <a:ext cx="332664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text, images, audio to numerical vectors using ML models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624138"/>
            <a:ext cx="3566220" cy="106680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9600" y="2814638"/>
            <a:ext cx="33266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Vector Indexing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600" y="3119438"/>
            <a:ext cx="332664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 vectors using algorithms like HNSW, IVF for fast search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843338"/>
            <a:ext cx="3566220" cy="106680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9600" y="4033837"/>
            <a:ext cx="33266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Similarity Search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4338638"/>
            <a:ext cx="332664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nearest neighbors using cosine similarity or Euclidean distance</a:t>
            </a:r>
            <a:endParaRPr lang="en-US" sz="1050" dirty="0"/>
          </a:p>
        </p:txBody>
      </p:sp>
      <p:pic>
        <p:nvPicPr>
          <p:cNvPr id="14" name="Image 0" descr="/tmp/rasterized-gradient-8702721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8220" y="1214438"/>
            <a:ext cx="4358580" cy="3505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56820" y="1443038"/>
            <a:ext cx="397940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556820" y="1900238"/>
            <a:ext cx="39794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High-Dimensional Space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556820" y="2243138"/>
            <a:ext cx="397940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Vectors typically have 768-4096 dimensions, representing complex semantic relationships.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56820" y="2814638"/>
            <a:ext cx="39794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Proximity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556820" y="3157538"/>
            <a:ext cx="397940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 concepts cluster together in vector space, enabling contextual search.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556820" y="3729038"/>
            <a:ext cx="39794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 Algorithms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556820" y="4071938"/>
            <a:ext cx="397940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Approximate Nearest Neighbor algorithms trade perfect accuracy for millisecond query times.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66700"/>
            <a:ext cx="4595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E4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Hybrid Search Solution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23900"/>
            <a:ext cx="762000" cy="28575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/tmp/rasterized-gradient-793afc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76312"/>
            <a:ext cx="8229600" cy="8572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7700" y="1128713"/>
            <a:ext cx="80444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7B2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7700" y="1452563"/>
            <a:ext cx="80444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semantic search can miss exact matches that traditional keyword search excels at finding.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57200" y="1985963"/>
            <a:ext cx="3962400" cy="1695450"/>
          </a:xfrm>
          <a:prstGeom prst="roundRect">
            <a:avLst>
              <a:gd name="adj" fmla="val 4494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47700" y="2176463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7B2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71376" y="2227957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085850" y="2214563"/>
            <a:ext cx="14095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E4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Search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7700" y="2614613"/>
            <a:ext cx="3581400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Understands context and intent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conceptually similar results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across languages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724400" y="1985963"/>
            <a:ext cx="3962400" cy="1695450"/>
          </a:xfrm>
          <a:prstGeom prst="roundRect">
            <a:avLst>
              <a:gd name="adj" fmla="val 4494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914900" y="2176463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038576" y="2227957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353050" y="2214563"/>
            <a:ext cx="13704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E4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Search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914900" y="2614613"/>
            <a:ext cx="3581400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Precise exact matches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for specific terms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 technical queries</a:t>
            </a:r>
            <a:endParaRPr lang="en-US" sz="1350" dirty="0"/>
          </a:p>
        </p:txBody>
      </p:sp>
      <p:pic>
        <p:nvPicPr>
          <p:cNvPr id="17" name="Image 1" descr="/tmp/rasterized-gradient-0ba6ece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33812"/>
            <a:ext cx="8229600" cy="97155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69214" y="4062412"/>
            <a:ext cx="80055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Search = Best of Both Worlds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569214" y="4386263"/>
            <a:ext cx="80055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vector similarity with keyword matching using RRF for optimal accuracy.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47650"/>
            <a:ext cx="558641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E4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Processing: The Foundation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04850"/>
            <a:ext cx="762000" cy="28575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642938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7B2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Chunking Strategy Matters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004887"/>
            <a:ext cx="2641550" cy="800100"/>
          </a:xfrm>
          <a:prstGeom prst="roundRect">
            <a:avLst>
              <a:gd name="adj" fmla="val 9524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1019175"/>
            <a:ext cx="2641550" cy="0"/>
          </a:xfrm>
          <a:prstGeom prst="line">
            <a:avLst/>
          </a:prstGeom>
          <a:noFill/>
          <a:ln w="28575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0550" y="1204913"/>
            <a:ext cx="24223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2E4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Size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590550" y="1443038"/>
            <a:ext cx="242234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256-512 tokens balance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51150" y="1004887"/>
            <a:ext cx="2641550" cy="800100"/>
          </a:xfrm>
          <a:prstGeom prst="roundRect">
            <a:avLst>
              <a:gd name="adj" fmla="val 9524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51150" y="1019175"/>
            <a:ext cx="2641550" cy="0"/>
          </a:xfrm>
          <a:prstGeom prst="line">
            <a:avLst/>
          </a:prstGeom>
          <a:noFill/>
          <a:ln w="28575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4500" y="1204913"/>
            <a:ext cx="24223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2E4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3384500" y="1443038"/>
            <a:ext cx="242234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10-20% prevents loss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45101" y="1004887"/>
            <a:ext cx="2641550" cy="800100"/>
          </a:xfrm>
          <a:prstGeom prst="roundRect">
            <a:avLst>
              <a:gd name="adj" fmla="val 9524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045101" y="1019175"/>
            <a:ext cx="2641550" cy="0"/>
          </a:xfrm>
          <a:prstGeom prst="line">
            <a:avLst/>
          </a:prstGeom>
          <a:noFill/>
          <a:ln w="28575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8451" y="1204913"/>
            <a:ext cx="24223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2E4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6178451" y="1443038"/>
            <a:ext cx="242234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 with tags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1995487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7B2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Processing</a:t>
            </a:r>
            <a:endParaRPr lang="en-US" sz="1500" dirty="0"/>
          </a:p>
        </p:txBody>
      </p:sp>
      <p:pic>
        <p:nvPicPr>
          <p:cNvPr id="18" name="Image 0" descr="/tmp/rasterized-gradient-4d88bca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357438"/>
            <a:ext cx="4745980" cy="27813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47700" y="2586038"/>
            <a:ext cx="44522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Documents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47700" y="2890838"/>
            <a:ext cx="44522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parsing, OCR extraction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47700" y="3195638"/>
            <a:ext cx="44522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🖼️ Images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47700" y="3500438"/>
            <a:ext cx="44522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CLIP, vision transformers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47700" y="3805237"/>
            <a:ext cx="44522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🎵 Audio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47700" y="4110038"/>
            <a:ext cx="44522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 transcription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47700" y="4414838"/>
            <a:ext cx="44522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🎥 Video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47700" y="4719638"/>
            <a:ext cx="44522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sampling, fusion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507980" y="3171825"/>
            <a:ext cx="3178820" cy="1152525"/>
          </a:xfrm>
          <a:prstGeom prst="roundRect">
            <a:avLst>
              <a:gd name="adj" fmla="val 6612"/>
            </a:avLst>
          </a:prstGeom>
          <a:solidFill>
            <a:srgbClr val="7B2FFF">
              <a:alpha val="10000"/>
            </a:srgbClr>
          </a:solidFill>
          <a:ln w="19050">
            <a:solidFill>
              <a:srgbClr val="7B2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5698480" y="3400425"/>
            <a:ext cx="28537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7B2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</a:t>
            </a:r>
            <a:endParaRPr lang="en-US" sz="1125" dirty="0"/>
          </a:p>
        </p:txBody>
      </p:sp>
      <p:sp>
        <p:nvSpPr>
          <p:cNvPr id="29" name="Text 26"/>
          <p:cNvSpPr/>
          <p:nvPr/>
        </p:nvSpPr>
        <p:spPr>
          <a:xfrm>
            <a:off x="5698480" y="3695700"/>
            <a:ext cx="285377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processing = Better retrieval. Invest in robust pipelines.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47650"/>
            <a:ext cx="56058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E4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Tool for All Vector Databases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04850"/>
            <a:ext cx="762000" cy="28575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/tmp/rasterized-gradient-274b33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19175"/>
            <a:ext cx="8229600" cy="8286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7700" y="1209675"/>
            <a:ext cx="80444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2E4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647700" y="1466850"/>
            <a:ext cx="80444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VDB has unique APIs and workflows. Switching means learning different interfaces.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57200" y="1996529"/>
            <a:ext cx="48500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B2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weave-cli Solution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2339429"/>
            <a:ext cx="2329755" cy="720030"/>
          </a:xfrm>
          <a:prstGeom prst="roundRect">
            <a:avLst>
              <a:gd name="adj" fmla="val 10583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90550" y="2510879"/>
            <a:ext cx="21043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225"/>
              </a:spcAft>
              <a:buNone/>
            </a:pPr>
            <a:r>
              <a:rPr lang="en-US" sz="10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Unified Interface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90550" y="2735610"/>
            <a:ext cx="21043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 for all VDBs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882205" y="2339429"/>
            <a:ext cx="2329904" cy="720030"/>
          </a:xfrm>
          <a:prstGeom prst="roundRect">
            <a:avLst>
              <a:gd name="adj" fmla="val 10583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015555" y="2510879"/>
            <a:ext cx="210446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225"/>
              </a:spcAft>
              <a:buNone/>
            </a:pPr>
            <a:r>
              <a:rPr lang="en-US" sz="10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Fast Prototyping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015555" y="2735610"/>
            <a:ext cx="21044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multiple VDBs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7200" y="3154710"/>
            <a:ext cx="2329755" cy="720030"/>
          </a:xfrm>
          <a:prstGeom prst="roundRect">
            <a:avLst>
              <a:gd name="adj" fmla="val 10583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90550" y="3326160"/>
            <a:ext cx="21043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225"/>
              </a:spcAft>
              <a:buNone/>
            </a:pPr>
            <a:r>
              <a:rPr lang="en-US" sz="10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Dev to Prod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90550" y="3550890"/>
            <a:ext cx="21043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transitions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882205" y="3154710"/>
            <a:ext cx="2329904" cy="720030"/>
          </a:xfrm>
          <a:prstGeom prst="roundRect">
            <a:avLst>
              <a:gd name="adj" fmla="val 10583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015555" y="3326160"/>
            <a:ext cx="210446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225"/>
              </a:spcAft>
              <a:buNone/>
            </a:pPr>
            <a:r>
              <a:rPr lang="en-US" sz="10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AI-Powered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015555" y="3550890"/>
            <a:ext cx="21044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Agent-assisted ops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3969990"/>
            <a:ext cx="2329755" cy="720030"/>
          </a:xfrm>
          <a:prstGeom prst="roundRect">
            <a:avLst>
              <a:gd name="adj" fmla="val 10583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90550" y="4141440"/>
            <a:ext cx="21043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225"/>
              </a:spcAft>
              <a:buNone/>
            </a:pPr>
            <a:r>
              <a:rPr lang="en-US" sz="10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Benchmarking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90550" y="4366171"/>
            <a:ext cx="21043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&amp; optimize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882205" y="3969990"/>
            <a:ext cx="2329904" cy="720030"/>
          </a:xfrm>
          <a:prstGeom prst="roundRect">
            <a:avLst>
              <a:gd name="adj" fmla="val 10583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3015555" y="4141440"/>
            <a:ext cx="210446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225"/>
              </a:spcAft>
              <a:buNone/>
            </a:pPr>
            <a:r>
              <a:rPr lang="en-US" sz="10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Open Source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3015555" y="4366171"/>
            <a:ext cx="21044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License</a:t>
            </a:r>
            <a:endParaRPr lang="en-US" sz="900" dirty="0"/>
          </a:p>
        </p:txBody>
      </p:sp>
      <p:pic>
        <p:nvPicPr>
          <p:cNvPr id="26" name="Image 1" descr="/tmp/rasterized-gradient-b5691c8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910" y="1924050"/>
            <a:ext cx="3169890" cy="184785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707410" y="2114550"/>
            <a:ext cx="28446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900"/>
              </a:spcAft>
              <a:buNone/>
            </a:pPr>
            <a:r>
              <a:rPr lang="en-US" sz="1125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</a:t>
            </a:r>
            <a:endParaRPr lang="en-US" sz="1125" dirty="0"/>
          </a:p>
        </p:txBody>
      </p:sp>
      <p:sp>
        <p:nvSpPr>
          <p:cNvPr id="28" name="Text 24"/>
          <p:cNvSpPr/>
          <p:nvPr/>
        </p:nvSpPr>
        <p:spPr>
          <a:xfrm>
            <a:off x="5707410" y="2400300"/>
            <a:ext cx="2788890" cy="1181100"/>
          </a:xfrm>
          <a:prstGeom prst="rect">
            <a:avLst/>
          </a:prstGeom>
          <a:noFill/>
          <a:ln/>
        </p:spPr>
        <p:txBody>
          <a:bodyPr wrap="square" lIns="61913" tIns="0" rIns="0" bIns="0" rtlCol="0" anchor="t"/>
          <a:lstStyle/>
          <a:p>
            <a:pPr algn="l" marL="61913" indent="-61913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Multi-VDB evaluation</a:t>
            </a:r>
            <a:endParaRPr lang="en-US" sz="1350" dirty="0"/>
          </a:p>
          <a:p>
            <a:pPr algn="l" marL="61913" indent="-61913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migration</a:t>
            </a:r>
            <a:endParaRPr lang="en-US" sz="1350" dirty="0"/>
          </a:p>
          <a:p>
            <a:pPr algn="l" marL="61913" indent="-61913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development</a:t>
            </a:r>
            <a:endParaRPr lang="en-US" sz="1350" dirty="0"/>
          </a:p>
          <a:p>
            <a:pPr algn="l" marL="61913" indent="-61913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5516910" y="3848100"/>
            <a:ext cx="3169890" cy="914400"/>
          </a:xfrm>
          <a:prstGeom prst="roundRect">
            <a:avLst>
              <a:gd name="adj" fmla="val 8333"/>
            </a:avLst>
          </a:prstGeom>
          <a:solidFill>
            <a:srgbClr val="7B2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5621228" y="4019550"/>
            <a:ext cx="29612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Time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5621228" y="4248150"/>
            <a:ext cx="29612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 Faster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06475" y="307777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Aft>
                <a:spcPts val="1500"/>
              </a:spcAft>
              <a:buNone/>
            </a:pPr>
            <a:r>
              <a:rPr lang="en-US" sz="3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Time!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486001" y="955477"/>
            <a:ext cx="2171700" cy="217170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/home/claude/weave-cli-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601" y="1184077"/>
            <a:ext cx="1714500" cy="1714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79717" y="3393877"/>
            <a:ext cx="398441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Star us on GitHub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579717" y="3774877"/>
            <a:ext cx="39844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github.com/maximilien/weave-cli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618780" y="4193977"/>
            <a:ext cx="1242864" cy="641896"/>
          </a:xfrm>
          <a:prstGeom prst="roundRect">
            <a:avLst>
              <a:gd name="adj" fmla="val 11871"/>
            </a:avLst>
          </a:prstGeom>
          <a:solidFill>
            <a:srgbClr val="00D4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800661" y="4327327"/>
            <a:ext cx="8791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Setup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800661" y="4555927"/>
            <a:ext cx="8791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 to first query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4052143" y="4193977"/>
            <a:ext cx="1071414" cy="641896"/>
          </a:xfrm>
          <a:prstGeom prst="roundRect">
            <a:avLst>
              <a:gd name="adj" fmla="val 11871"/>
            </a:avLst>
          </a:prstGeom>
          <a:solidFill>
            <a:srgbClr val="7B2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235739" y="4327327"/>
            <a:ext cx="7042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7B2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Multi-VDB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235739" y="4555927"/>
            <a:ext cx="7042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databases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5314057" y="4193977"/>
            <a:ext cx="1211014" cy="641896"/>
          </a:xfrm>
          <a:prstGeom prst="roundRect">
            <a:avLst>
              <a:gd name="adj" fmla="val 11871"/>
            </a:avLst>
          </a:prstGeom>
          <a:solidFill>
            <a:srgbClr val="00D4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496257" y="4327327"/>
            <a:ext cx="8466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496257" y="4555927"/>
            <a:ext cx="84661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License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weave-cli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Vector Databases - Powering AI Agents</dc:title>
  <dc:subject>Vector Databases Overview</dc:subject>
  <dc:creator>weave-cli</dc:creator>
  <cp:lastModifiedBy>weave-cli</cp:lastModifiedBy>
  <cp:revision>1</cp:revision>
  <dcterms:created xsi:type="dcterms:W3CDTF">2025-11-18T00:15:12Z</dcterms:created>
  <dcterms:modified xsi:type="dcterms:W3CDTF">2025-11-18T00:15:12Z</dcterms:modified>
</cp:coreProperties>
</file>