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 name="Shape 64"/>
          <p:cNvSpPr/>
          <p:nvPr>
            <p:ph type="sldImg"/>
          </p:nvPr>
        </p:nvSpPr>
        <p:spPr>
          <a:prstGeom prst="rect">
            <a:avLst/>
          </a:prstGeom>
        </p:spPr>
        <p:txBody>
          <a:bodyPr/>
          <a:lstStyle/>
          <a:p>
            <a:pPr/>
          </a:p>
        </p:txBody>
      </p:sp>
      <p:sp>
        <p:nvSpPr>
          <p:cNvPr id="65" name="Shape 65"/>
          <p:cNvSpPr/>
          <p:nvPr>
            <p:ph type="body" sz="quarter" idx="1"/>
          </p:nvPr>
        </p:nvSpPr>
        <p:spPr>
          <a:prstGeom prst="rect">
            <a:avLst/>
          </a:prstGeom>
        </p:spPr>
        <p:txBody>
          <a:bodyPr/>
          <a:lstStyle/>
          <a:p>
            <a:pPr/>
            <a:r>
              <a:t>HNSW == HNSW (Hierarchical Navigable Small World) is a graph-based algorithm used for fast and accurate approximate nearest neighbor (ANN) search in high-dimensional vector spaces. It works by creating a layered graph of vectors, allowing it to efficiently narrow down the search from the top layers with long-range connections down to the bottom layers for fine-tuned results. While it offers high performance and scalability, it can be memory-intensive, particularly for very large datasets. </a:t>
            </a:r>
          </a:p>
          <a:p>
            <a:pPr/>
          </a:p>
          <a:p>
            <a:pPr/>
            <a:r>
              <a:t>IVF == IVF (Inverted File Index) is a vector search technique that partitions vectors into clusters, with each cluster having a centroid. To find similar vectors, a query first identifies the nearest centroids and then searches only the vectors within the corresponding clusters, making it much faster than a brute-force search. This method is a common and efficient way to handle large-scale vector data for applications like similarity search in databases.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 name="Shape 71"/>
          <p:cNvSpPr/>
          <p:nvPr>
            <p:ph type="sldImg"/>
          </p:nvPr>
        </p:nvSpPr>
        <p:spPr>
          <a:prstGeom prst="rect">
            <a:avLst/>
          </a:prstGeom>
        </p:spPr>
        <p:txBody>
          <a:bodyPr/>
          <a:lstStyle/>
          <a:p>
            <a:pPr/>
          </a:p>
        </p:txBody>
      </p:sp>
      <p:sp>
        <p:nvSpPr>
          <p:cNvPr id="72" name="Shape 72"/>
          <p:cNvSpPr/>
          <p:nvPr>
            <p:ph type="body" sz="quarter" idx="1"/>
          </p:nvPr>
        </p:nvSpPr>
        <p:spPr>
          <a:prstGeom prst="rect">
            <a:avLst/>
          </a:prstGeom>
        </p:spPr>
        <p:txBody>
          <a:bodyPr/>
          <a:lstStyle/>
          <a:p>
            <a:pPr/>
            <a:r>
              <a:t>HNSW == HNSW (Hierarchical Navigable Small World) is a graph-based algorithm used for fast and accurate approximate nearest neighbor (ANN) search in high-dimensional vector spaces. It works by creating a layered graph of vectors, allowing it to efficiently narrow down the search from the top layers with long-range connections down to the bottom layers for fine-tuned results. While it offers high performance and scalability, it can be memory-intensive, particularly for very large datasets. </a:t>
            </a:r>
          </a:p>
          <a:p>
            <a:pPr/>
          </a:p>
          <a:p>
            <a:pPr/>
            <a:r>
              <a:t>IVF == IVF (Inverted File Index) is a vector search technique that partitions vectors into clusters, with each cluster having a centroid. To find similar vectors, a query first identifies the nearest centroids and then searches only the vectors within the corresponding clusters, making it much faster than a brute-force search. This method is a common and efficient way to handle large-scale vector data for applications like similarity search in databases.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2" name="Shape 92"/>
          <p:cNvSpPr/>
          <p:nvPr>
            <p:ph type="sldImg"/>
          </p:nvPr>
        </p:nvSpPr>
        <p:spPr>
          <a:prstGeom prst="rect">
            <a:avLst/>
          </a:prstGeom>
        </p:spPr>
        <p:txBody>
          <a:bodyPr/>
          <a:lstStyle/>
          <a:p>
            <a:pPr/>
          </a:p>
        </p:txBody>
      </p:sp>
      <p:sp>
        <p:nvSpPr>
          <p:cNvPr id="93" name="Shape 93"/>
          <p:cNvSpPr/>
          <p:nvPr>
            <p:ph type="body" sz="quarter" idx="1"/>
          </p:nvPr>
        </p:nvSpPr>
        <p:spPr>
          <a:prstGeom prst="rect">
            <a:avLst/>
          </a:prstGeom>
        </p:spPr>
        <p:txBody>
          <a:bodyPr/>
          <a:lstStyle/>
          <a:p>
            <a:pPr/>
            <a:r>
              <a:t>RRF == Reciprocal Rank Fusion (RRF) is a ranking method that combines multiple ranked lists into a single, unified ranking by assigning a score based on the reciprocal of the rank. It prioritizes documents that appear at higher ranks across different lists, giving more weight to top results and reducing the contribution of lower-ranked documents non-linearly. RRF is often used in hybrid search to merge results from different retrieval methods, like semantic and full-text search, into a more relevant final ranking. </a:t>
            </a:r>
          </a:p>
          <a:p>
            <a:pPr/>
          </a:p>
          <a:p>
            <a:pPr/>
            <a:r>
              <a:t>BM25 == BM25 (Best Match 25) is a ranking function used in information retrieval to estimate a document's relevance to a given search query based on keyword matching. It calculates a score by considering a document's term frequency, the rarity of the terms across all documents (inverse document frequency), and the document's length. BM25 is effective for precise, keyword-based searches and is a default algorithm in many search platforms like Elasticsearch and OpenSearch. </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github.com/maximilien/weave-cli" TargetMode="Externa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hyperlink" Target="https://weaviate.io/blog/vector-search-explained" TargetMode="Externa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9.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hyperlink" Target="http://github.com/maximilien/weave-cli"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0" name="Text 0"/>
          <p:cNvSpPr txBox="1"/>
          <p:nvPr/>
        </p:nvSpPr>
        <p:spPr>
          <a:xfrm>
            <a:off x="795984" y="961987"/>
            <a:ext cx="7552032" cy="60253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4500"/>
              </a:lnSpc>
              <a:spcBef>
                <a:spcPts val="900"/>
              </a:spcBef>
              <a:defRPr b="1" sz="5400">
                <a:solidFill>
                  <a:srgbClr val="00D4FF"/>
                </a:solidFill>
                <a:latin typeface="Arial"/>
                <a:ea typeface="Arial"/>
                <a:cs typeface="Arial"/>
                <a:sym typeface="Arial"/>
              </a:defRPr>
            </a:lvl1pPr>
          </a:lstStyle>
          <a:p>
            <a:pPr/>
            <a:r>
              <a:t>Introducing weave-cli</a:t>
            </a:r>
          </a:p>
        </p:txBody>
      </p:sp>
      <p:sp>
        <p:nvSpPr>
          <p:cNvPr id="21" name="Text 1"/>
          <p:cNvSpPr txBox="1"/>
          <p:nvPr/>
        </p:nvSpPr>
        <p:spPr>
          <a:xfrm>
            <a:off x="935135" y="2092996"/>
            <a:ext cx="7552031" cy="3577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2700"/>
              </a:lnSpc>
              <a:spcBef>
                <a:spcPts val="2400"/>
              </a:spcBef>
              <a:defRPr sz="3100">
                <a:solidFill>
                  <a:srgbClr val="FFFFFF"/>
                </a:solidFill>
                <a:latin typeface="Arial"/>
                <a:ea typeface="Arial"/>
                <a:cs typeface="Arial"/>
                <a:sym typeface="Arial"/>
              </a:defRPr>
            </a:lvl1pPr>
          </a:lstStyle>
          <a:p>
            <a:pPr/>
            <a:r>
              <a:t>Powering the Next Generation of AI Agents</a:t>
            </a:r>
          </a:p>
        </p:txBody>
      </p:sp>
      <p:sp>
        <p:nvSpPr>
          <p:cNvPr id="22" name="Text 2"/>
          <p:cNvSpPr/>
          <p:nvPr/>
        </p:nvSpPr>
        <p:spPr>
          <a:xfrm>
            <a:off x="1527637" y="2979225"/>
            <a:ext cx="571501" cy="38101"/>
          </a:xfrm>
          <a:prstGeom prst="rect">
            <a:avLst/>
          </a:prstGeom>
          <a:solidFill>
            <a:srgbClr val="00D4FF"/>
          </a:solidFill>
          <a:ln w="12700">
            <a:miter lim="400000"/>
          </a:ln>
        </p:spPr>
        <p:txBody>
          <a:bodyPr lIns="45719" rIns="45719" anchor="ctr"/>
          <a:lstStyle/>
          <a:p>
            <a:pPr>
              <a:defRPr sz="2700"/>
            </a:pPr>
          </a:p>
        </p:txBody>
      </p:sp>
      <p:sp>
        <p:nvSpPr>
          <p:cNvPr id="23" name="Text 3"/>
          <p:cNvSpPr txBox="1"/>
          <p:nvPr/>
        </p:nvSpPr>
        <p:spPr>
          <a:xfrm>
            <a:off x="2241604" y="2821199"/>
            <a:ext cx="4939093" cy="2779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lnSpc>
                <a:spcPts val="2100"/>
              </a:lnSpc>
              <a:spcBef>
                <a:spcPts val="300"/>
              </a:spcBef>
              <a:defRPr sz="2400">
                <a:solidFill>
                  <a:srgbClr val="FFFFFF"/>
                </a:solidFill>
                <a:latin typeface="Arial"/>
                <a:ea typeface="Arial"/>
                <a:cs typeface="Arial"/>
                <a:sym typeface="Arial"/>
              </a:defRPr>
            </a:pPr>
            <a:r>
              <a:rPr u="sng">
                <a:solidFill>
                  <a:srgbClr val="0563C1"/>
                </a:solidFill>
                <a:uFill>
                  <a:solidFill>
                    <a:srgbClr val="0563C1"/>
                  </a:solidFill>
                </a:uFill>
                <a:hlinkClick r:id="rId3" invalidUrl="" action="" tgtFrame="" tooltip="" history="1" highlightClick="0" endSnd="0"/>
              </a:rPr>
              <a:t>github.com/maximilien/weave-cli</a:t>
            </a:r>
            <a:r>
              <a:t> </a:t>
            </a:r>
          </a:p>
        </p:txBody>
      </p:sp>
      <p:sp>
        <p:nvSpPr>
          <p:cNvPr id="24" name="Text 4"/>
          <p:cNvSpPr/>
          <p:nvPr/>
        </p:nvSpPr>
        <p:spPr>
          <a:xfrm>
            <a:off x="7323163" y="2941125"/>
            <a:ext cx="571501" cy="38101"/>
          </a:xfrm>
          <a:prstGeom prst="rect">
            <a:avLst/>
          </a:prstGeom>
          <a:solidFill>
            <a:srgbClr val="7B2FFF"/>
          </a:solidFill>
          <a:ln w="12700">
            <a:miter lim="400000"/>
          </a:ln>
        </p:spPr>
        <p:txBody>
          <a:bodyPr lIns="45719" rIns="45719" anchor="ctr"/>
          <a:lstStyle/>
          <a:p>
            <a:pPr>
              <a:defRPr sz="2700"/>
            </a:pPr>
          </a:p>
        </p:txBody>
      </p:sp>
      <p:sp>
        <p:nvSpPr>
          <p:cNvPr id="25" name="Text 5"/>
          <p:cNvSpPr txBox="1"/>
          <p:nvPr/>
        </p:nvSpPr>
        <p:spPr>
          <a:xfrm>
            <a:off x="1428629" y="3545803"/>
            <a:ext cx="6565043" cy="20353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500"/>
              </a:lnSpc>
              <a:spcBef>
                <a:spcPts val="1800"/>
              </a:spcBef>
              <a:defRPr sz="1900">
                <a:solidFill>
                  <a:srgbClr val="FFFFFF"/>
                </a:solidFill>
                <a:latin typeface="Arial"/>
                <a:ea typeface="Arial"/>
                <a:cs typeface="Arial"/>
                <a:sym typeface="Arial"/>
              </a:defRPr>
            </a:lvl1pPr>
          </a:lstStyle>
          <a:p>
            <a:pPr/>
            <a:r>
              <a:t>Your Universal VDB Development Tool</a:t>
            </a:r>
          </a:p>
        </p:txBody>
      </p:sp>
      <p:sp>
        <p:nvSpPr>
          <p:cNvPr id="26" name="Text 5"/>
          <p:cNvSpPr txBox="1"/>
          <p:nvPr/>
        </p:nvSpPr>
        <p:spPr>
          <a:xfrm>
            <a:off x="7347340" y="4703505"/>
            <a:ext cx="1584931" cy="20353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500"/>
              </a:lnSpc>
              <a:spcBef>
                <a:spcPts val="1800"/>
              </a:spcBef>
              <a:defRPr sz="1900">
                <a:solidFill>
                  <a:srgbClr val="FFFFFF"/>
                </a:solidFill>
                <a:latin typeface="Arial"/>
                <a:ea typeface="Arial"/>
                <a:cs typeface="Arial"/>
                <a:sym typeface="Arial"/>
              </a:defRPr>
            </a:lvl1pPr>
          </a:lstStyle>
          <a:p>
            <a:pPr/>
            <a:r>
              <a:t>Maximilien.ai</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 name="Text 0"/>
          <p:cNvSpPr txBox="1"/>
          <p:nvPr/>
        </p:nvSpPr>
        <p:spPr>
          <a:xfrm>
            <a:off x="457199" y="304800"/>
            <a:ext cx="4750882" cy="3774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000"/>
              </a:lnSpc>
              <a:defRPr b="1" sz="2700">
                <a:solidFill>
                  <a:srgbClr val="2E4A6F"/>
                </a:solidFill>
                <a:latin typeface="Arial"/>
                <a:ea typeface="Arial"/>
                <a:cs typeface="Arial"/>
                <a:sym typeface="Arial"/>
              </a:defRPr>
            </a:lvl1pPr>
          </a:lstStyle>
          <a:p>
            <a:pPr/>
            <a:r>
              <a:t>What Are Vector Databases?</a:t>
            </a:r>
          </a:p>
        </p:txBody>
      </p:sp>
      <p:sp>
        <p:nvSpPr>
          <p:cNvPr id="29" name="Text 1"/>
          <p:cNvSpPr/>
          <p:nvPr/>
        </p:nvSpPr>
        <p:spPr>
          <a:xfrm>
            <a:off x="457200" y="762000"/>
            <a:ext cx="762000" cy="28575"/>
          </a:xfrm>
          <a:prstGeom prst="rect">
            <a:avLst/>
          </a:prstGeom>
          <a:solidFill>
            <a:srgbClr val="00D4FF"/>
          </a:solidFill>
          <a:ln w="12700">
            <a:miter lim="400000"/>
          </a:ln>
        </p:spPr>
        <p:txBody>
          <a:bodyPr lIns="45719" rIns="45719" anchor="ctr"/>
          <a:lstStyle/>
          <a:p>
            <a:pPr/>
          </a:p>
        </p:txBody>
      </p:sp>
      <p:sp>
        <p:nvSpPr>
          <p:cNvPr id="30" name="Text 2"/>
          <p:cNvSpPr/>
          <p:nvPr/>
        </p:nvSpPr>
        <p:spPr>
          <a:xfrm>
            <a:off x="466173" y="1106622"/>
            <a:ext cx="5362957" cy="1228726"/>
          </a:xfrm>
          <a:prstGeom prst="roundRect">
            <a:avLst>
              <a:gd name="adj" fmla="val 6202"/>
            </a:avLst>
          </a:prstGeom>
          <a:solidFill>
            <a:srgbClr val="F0F4F8"/>
          </a:solidFill>
          <a:ln w="12700">
            <a:miter lim="400000"/>
          </a:ln>
        </p:spPr>
        <p:txBody>
          <a:bodyPr lIns="45719" rIns="45719" anchor="ctr"/>
          <a:lstStyle/>
          <a:p>
            <a:pPr/>
          </a:p>
        </p:txBody>
      </p:sp>
      <p:sp>
        <p:nvSpPr>
          <p:cNvPr id="31" name="Shape 3"/>
          <p:cNvSpPr/>
          <p:nvPr/>
        </p:nvSpPr>
        <p:spPr>
          <a:xfrm flipH="1">
            <a:off x="458302" y="1221853"/>
            <a:ext cx="1" cy="1228726"/>
          </a:xfrm>
          <a:prstGeom prst="line">
            <a:avLst/>
          </a:prstGeom>
          <a:ln w="38100">
            <a:solidFill>
              <a:srgbClr val="00D4FF"/>
            </a:solidFill>
          </a:ln>
        </p:spPr>
        <p:txBody>
          <a:bodyPr lIns="45719" rIns="45719"/>
          <a:lstStyle/>
          <a:p>
            <a:pPr/>
          </a:p>
        </p:txBody>
      </p:sp>
      <p:sp>
        <p:nvSpPr>
          <p:cNvPr id="32" name="Text 4"/>
          <p:cNvSpPr txBox="1"/>
          <p:nvPr/>
        </p:nvSpPr>
        <p:spPr>
          <a:xfrm>
            <a:off x="694773" y="1335222"/>
            <a:ext cx="4905757" cy="7542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000"/>
              </a:lnSpc>
              <a:spcBef>
                <a:spcPts val="300"/>
              </a:spcBef>
              <a:defRPr sz="1600">
                <a:solidFill>
                  <a:srgbClr val="1A2332"/>
                </a:solidFill>
                <a:latin typeface="Arial"/>
                <a:ea typeface="Arial"/>
                <a:cs typeface="Arial"/>
                <a:sym typeface="Arial"/>
              </a:defRPr>
            </a:lvl1pPr>
          </a:lstStyle>
          <a:p>
            <a:pPr/>
            <a:r>
              <a:t>Specialized databases optimized for storing and querying high-dimensional vector embeddings that represent semantic meaning of data.</a:t>
            </a:r>
          </a:p>
        </p:txBody>
      </p:sp>
      <p:sp>
        <p:nvSpPr>
          <p:cNvPr id="33" name="Text 5"/>
          <p:cNvSpPr txBox="1"/>
          <p:nvPr/>
        </p:nvSpPr>
        <p:spPr>
          <a:xfrm>
            <a:off x="466173" y="2602047"/>
            <a:ext cx="5362957" cy="29497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400"/>
              </a:lnSpc>
              <a:defRPr b="1" sz="1900">
                <a:solidFill>
                  <a:srgbClr val="2E4A6F"/>
                </a:solidFill>
                <a:latin typeface="Arial"/>
                <a:ea typeface="Arial"/>
                <a:cs typeface="Arial"/>
                <a:sym typeface="Arial"/>
              </a:defRPr>
            </a:lvl1pPr>
          </a:lstStyle>
          <a:p>
            <a:pPr/>
            <a:r>
              <a:t>Why Critical for AI Agents?</a:t>
            </a:r>
          </a:p>
        </p:txBody>
      </p:sp>
      <p:sp>
        <p:nvSpPr>
          <p:cNvPr id="34" name="Text 6"/>
          <p:cNvSpPr txBox="1"/>
          <p:nvPr/>
        </p:nvSpPr>
        <p:spPr>
          <a:xfrm>
            <a:off x="551898" y="2983047"/>
            <a:ext cx="5362957" cy="10565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85725" indent="-85725">
              <a:lnSpc>
                <a:spcPts val="2100"/>
              </a:lnSpc>
              <a:buSzPct val="100000"/>
              <a:buChar char="•"/>
              <a:defRPr sz="1600">
                <a:solidFill>
                  <a:srgbClr val="1A2332"/>
                </a:solidFill>
                <a:latin typeface="Arial"/>
                <a:ea typeface="Arial"/>
                <a:cs typeface="Arial"/>
                <a:sym typeface="Arial"/>
              </a:defRPr>
            </a:pPr>
            <a:r>
              <a:t>Enable semantic search beyond keyword matching</a:t>
            </a:r>
          </a:p>
          <a:p>
            <a:pPr marL="85725" indent="-85725">
              <a:lnSpc>
                <a:spcPts val="2100"/>
              </a:lnSpc>
              <a:buSzPct val="100000"/>
              <a:buChar char="•"/>
              <a:defRPr sz="1600">
                <a:solidFill>
                  <a:srgbClr val="1A2332"/>
                </a:solidFill>
                <a:latin typeface="Arial"/>
                <a:ea typeface="Arial"/>
                <a:cs typeface="Arial"/>
                <a:sym typeface="Arial"/>
              </a:defRPr>
            </a:pPr>
            <a:r>
              <a:t>Power RAG systems with contextual knowledge retrieval</a:t>
            </a:r>
          </a:p>
          <a:p>
            <a:pPr marL="85725" indent="-85725">
              <a:lnSpc>
                <a:spcPts val="2100"/>
              </a:lnSpc>
              <a:buSzPct val="100000"/>
              <a:buChar char="•"/>
              <a:defRPr sz="1600">
                <a:solidFill>
                  <a:srgbClr val="1A2332"/>
                </a:solidFill>
                <a:latin typeface="Arial"/>
                <a:ea typeface="Arial"/>
                <a:cs typeface="Arial"/>
                <a:sym typeface="Arial"/>
              </a:defRPr>
            </a:pPr>
            <a:r>
              <a:t>Support real-time similarity search at scale</a:t>
            </a:r>
          </a:p>
          <a:p>
            <a:pPr marL="85725" indent="-85725">
              <a:lnSpc>
                <a:spcPts val="2100"/>
              </a:lnSpc>
              <a:buSzPct val="100000"/>
              <a:buChar char="•"/>
              <a:defRPr sz="1600">
                <a:solidFill>
                  <a:srgbClr val="1A2332"/>
                </a:solidFill>
                <a:latin typeface="Arial"/>
                <a:ea typeface="Arial"/>
                <a:cs typeface="Arial"/>
                <a:sym typeface="Arial"/>
              </a:defRPr>
            </a:pPr>
            <a:r>
              <a:t>Essential for LLM memory and context management</a:t>
            </a:r>
          </a:p>
        </p:txBody>
      </p:sp>
      <p:pic>
        <p:nvPicPr>
          <p:cNvPr id="35" name="Image 0" descr="Image 0"/>
          <p:cNvPicPr>
            <a:picLocks noChangeAspect="1"/>
          </p:cNvPicPr>
          <p:nvPr/>
        </p:nvPicPr>
        <p:blipFill>
          <a:blip r:embed="rId2">
            <a:extLst/>
          </a:blip>
          <a:stretch>
            <a:fillRect/>
          </a:stretch>
        </p:blipFill>
        <p:spPr>
          <a:xfrm>
            <a:off x="6077715" y="1126603"/>
            <a:ext cx="2752662" cy="2890294"/>
          </a:xfrm>
          <a:prstGeom prst="rect">
            <a:avLst/>
          </a:prstGeom>
          <a:ln w="12700">
            <a:miter lim="400000"/>
          </a:ln>
        </p:spPr>
      </p:pic>
      <p:sp>
        <p:nvSpPr>
          <p:cNvPr id="36" name="Text 7"/>
          <p:cNvSpPr txBox="1"/>
          <p:nvPr/>
        </p:nvSpPr>
        <p:spPr>
          <a:xfrm>
            <a:off x="6391976" y="1445146"/>
            <a:ext cx="2253997" cy="2922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400"/>
              </a:lnSpc>
              <a:spcBef>
                <a:spcPts val="1200"/>
              </a:spcBef>
              <a:defRPr b="1">
                <a:solidFill>
                  <a:srgbClr val="FFFFFF"/>
                </a:solidFill>
                <a:latin typeface="Arial"/>
                <a:ea typeface="Arial"/>
                <a:cs typeface="Arial"/>
                <a:sym typeface="Arial"/>
              </a:defRPr>
            </a:lvl1pPr>
          </a:lstStyle>
          <a:p>
            <a:pPr/>
            <a:r>
              <a:t>Market Growth</a:t>
            </a:r>
          </a:p>
        </p:txBody>
      </p:sp>
      <p:sp>
        <p:nvSpPr>
          <p:cNvPr id="37" name="Text 8"/>
          <p:cNvSpPr txBox="1"/>
          <p:nvPr/>
        </p:nvSpPr>
        <p:spPr>
          <a:xfrm>
            <a:off x="6369878" y="1902346"/>
            <a:ext cx="2253997" cy="462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3600"/>
              </a:lnSpc>
              <a:spcBef>
                <a:spcPts val="600"/>
              </a:spcBef>
              <a:defRPr b="1" sz="3600">
                <a:solidFill>
                  <a:srgbClr val="00D4FF"/>
                </a:solidFill>
                <a:latin typeface="Arial"/>
                <a:ea typeface="Arial"/>
                <a:cs typeface="Arial"/>
                <a:sym typeface="Arial"/>
              </a:defRPr>
            </a:lvl1pPr>
          </a:lstStyle>
          <a:p>
            <a:pPr/>
            <a:r>
              <a:t>$2.2B</a:t>
            </a:r>
          </a:p>
        </p:txBody>
      </p:sp>
      <p:sp>
        <p:nvSpPr>
          <p:cNvPr id="38" name="Text 9"/>
          <p:cNvSpPr txBox="1"/>
          <p:nvPr/>
        </p:nvSpPr>
        <p:spPr>
          <a:xfrm>
            <a:off x="6369878" y="2435746"/>
            <a:ext cx="2253997" cy="17931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500"/>
              </a:lnSpc>
              <a:spcBef>
                <a:spcPts val="1200"/>
              </a:spcBef>
              <a:defRPr sz="1000">
                <a:solidFill>
                  <a:srgbClr val="FFFFFF"/>
                </a:solidFill>
                <a:latin typeface="Arial"/>
                <a:ea typeface="Arial"/>
                <a:cs typeface="Arial"/>
                <a:sym typeface="Arial"/>
              </a:defRPr>
            </a:lvl1pPr>
          </a:lstStyle>
          <a:p>
            <a:pPr/>
            <a:r>
              <a:t>2024 Market Size</a:t>
            </a:r>
          </a:p>
        </p:txBody>
      </p:sp>
      <p:sp>
        <p:nvSpPr>
          <p:cNvPr id="39" name="Text 10"/>
          <p:cNvSpPr/>
          <p:nvPr/>
        </p:nvSpPr>
        <p:spPr>
          <a:xfrm>
            <a:off x="6391976" y="2778646"/>
            <a:ext cx="2209801" cy="19051"/>
          </a:xfrm>
          <a:prstGeom prst="rect">
            <a:avLst/>
          </a:prstGeom>
          <a:solidFill>
            <a:srgbClr val="FFFFFF">
              <a:alpha val="30000"/>
            </a:srgbClr>
          </a:solidFill>
          <a:ln w="12700">
            <a:miter lim="400000"/>
          </a:ln>
        </p:spPr>
        <p:txBody>
          <a:bodyPr lIns="45719" rIns="45719" anchor="ctr"/>
          <a:lstStyle/>
          <a:p>
            <a:pPr/>
          </a:p>
        </p:txBody>
      </p:sp>
      <p:sp>
        <p:nvSpPr>
          <p:cNvPr id="40" name="Text 11"/>
          <p:cNvSpPr txBox="1"/>
          <p:nvPr/>
        </p:nvSpPr>
        <p:spPr>
          <a:xfrm>
            <a:off x="6369878" y="2950096"/>
            <a:ext cx="2253997" cy="33353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2700"/>
              </a:lnSpc>
              <a:spcBef>
                <a:spcPts val="600"/>
              </a:spcBef>
              <a:defRPr b="1" sz="2200">
                <a:solidFill>
                  <a:srgbClr val="00D4FF"/>
                </a:solidFill>
                <a:latin typeface="Arial"/>
                <a:ea typeface="Arial"/>
                <a:cs typeface="Arial"/>
                <a:sym typeface="Arial"/>
              </a:defRPr>
            </a:lvl1pPr>
          </a:lstStyle>
          <a:p>
            <a:pPr/>
            <a:r>
              <a:t>$10.6B</a:t>
            </a:r>
          </a:p>
        </p:txBody>
      </p:sp>
      <p:sp>
        <p:nvSpPr>
          <p:cNvPr id="41" name="Text 12"/>
          <p:cNvSpPr txBox="1"/>
          <p:nvPr/>
        </p:nvSpPr>
        <p:spPr>
          <a:xfrm>
            <a:off x="6369878" y="3369195"/>
            <a:ext cx="2253997" cy="17931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500"/>
              </a:lnSpc>
              <a:spcBef>
                <a:spcPts val="300"/>
              </a:spcBef>
              <a:defRPr sz="1000">
                <a:solidFill>
                  <a:srgbClr val="FFFFFF"/>
                </a:solidFill>
                <a:latin typeface="Arial"/>
                <a:ea typeface="Arial"/>
                <a:cs typeface="Arial"/>
                <a:sym typeface="Arial"/>
              </a:defRPr>
            </a:lvl1pPr>
          </a:lstStyle>
          <a:p>
            <a:pPr/>
            <a:r>
              <a:t>2032 Projection</a:t>
            </a:r>
          </a:p>
        </p:txBody>
      </p:sp>
      <p:sp>
        <p:nvSpPr>
          <p:cNvPr id="42" name="Text 13"/>
          <p:cNvSpPr txBox="1"/>
          <p:nvPr/>
        </p:nvSpPr>
        <p:spPr>
          <a:xfrm>
            <a:off x="6369878" y="3597795"/>
            <a:ext cx="2253997" cy="1461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200"/>
              </a:lnSpc>
              <a:spcBef>
                <a:spcPts val="300"/>
              </a:spcBef>
              <a:defRPr sz="900">
                <a:solidFill>
                  <a:srgbClr val="FFFFFF"/>
                </a:solidFill>
                <a:latin typeface="Arial"/>
                <a:ea typeface="Arial"/>
                <a:cs typeface="Arial"/>
                <a:sym typeface="Arial"/>
              </a:defRPr>
            </a:lvl1pPr>
          </a:lstStyle>
          <a:p>
            <a:pPr/>
            <a:r>
              <a:t>23.5% CAGR</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 name="Text 0"/>
          <p:cNvSpPr txBox="1"/>
          <p:nvPr/>
        </p:nvSpPr>
        <p:spPr>
          <a:xfrm>
            <a:off x="457199" y="304800"/>
            <a:ext cx="7578092" cy="3774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000"/>
              </a:lnSpc>
              <a:defRPr b="1" sz="2700">
                <a:solidFill>
                  <a:srgbClr val="2E4A6F"/>
                </a:solidFill>
                <a:latin typeface="Arial"/>
                <a:ea typeface="Arial"/>
                <a:cs typeface="Arial"/>
                <a:sym typeface="Arial"/>
              </a:defRPr>
            </a:lvl1pPr>
          </a:lstStyle>
          <a:p>
            <a:pPr/>
            <a:r>
              <a:t>How They Work: Embeddings &amp; Vector Space</a:t>
            </a:r>
          </a:p>
        </p:txBody>
      </p:sp>
      <p:sp>
        <p:nvSpPr>
          <p:cNvPr id="45" name="Text 1"/>
          <p:cNvSpPr/>
          <p:nvPr/>
        </p:nvSpPr>
        <p:spPr>
          <a:xfrm>
            <a:off x="457200" y="762000"/>
            <a:ext cx="762000" cy="28575"/>
          </a:xfrm>
          <a:prstGeom prst="rect">
            <a:avLst/>
          </a:prstGeom>
          <a:solidFill>
            <a:srgbClr val="00D4FF"/>
          </a:solidFill>
          <a:ln w="12700">
            <a:miter lim="400000"/>
          </a:ln>
        </p:spPr>
        <p:txBody>
          <a:bodyPr lIns="45719" rIns="45719" anchor="ctr"/>
          <a:lstStyle/>
          <a:p>
            <a:pPr/>
          </a:p>
        </p:txBody>
      </p:sp>
      <p:sp>
        <p:nvSpPr>
          <p:cNvPr id="46" name="Text 2"/>
          <p:cNvSpPr txBox="1"/>
          <p:nvPr/>
        </p:nvSpPr>
        <p:spPr>
          <a:xfrm>
            <a:off x="457199" y="870309"/>
            <a:ext cx="3637545" cy="2976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400"/>
              </a:lnSpc>
              <a:defRPr b="1" sz="2000">
                <a:solidFill>
                  <a:srgbClr val="7B2FFF"/>
                </a:solidFill>
                <a:latin typeface="Arial"/>
                <a:ea typeface="Arial"/>
                <a:cs typeface="Arial"/>
                <a:sym typeface="Arial"/>
              </a:defRPr>
            </a:lvl1pPr>
          </a:lstStyle>
          <a:p>
            <a:pPr/>
            <a:r>
              <a:t>The Process</a:t>
            </a:r>
          </a:p>
        </p:txBody>
      </p:sp>
      <p:sp>
        <p:nvSpPr>
          <p:cNvPr id="47" name="Text 3"/>
          <p:cNvSpPr/>
          <p:nvPr/>
        </p:nvSpPr>
        <p:spPr>
          <a:xfrm>
            <a:off x="457200" y="1251309"/>
            <a:ext cx="3566220" cy="1066801"/>
          </a:xfrm>
          <a:prstGeom prst="roundRect">
            <a:avLst>
              <a:gd name="adj" fmla="val 7143"/>
            </a:avLst>
          </a:prstGeom>
          <a:solidFill>
            <a:srgbClr val="F0F4F8"/>
          </a:solidFill>
          <a:ln w="12700">
            <a:miter lim="400000"/>
          </a:ln>
        </p:spPr>
        <p:txBody>
          <a:bodyPr lIns="45719" rIns="45719" anchor="ctr"/>
          <a:lstStyle/>
          <a:p>
            <a:pPr/>
          </a:p>
        </p:txBody>
      </p:sp>
      <p:sp>
        <p:nvSpPr>
          <p:cNvPr id="48" name="Text 4"/>
          <p:cNvSpPr txBox="1"/>
          <p:nvPr/>
        </p:nvSpPr>
        <p:spPr>
          <a:xfrm>
            <a:off x="609599" y="1441809"/>
            <a:ext cx="3326650" cy="2564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spcBef>
                <a:spcPts val="300"/>
              </a:spcBef>
              <a:defRPr b="1" sz="1600">
                <a:solidFill>
                  <a:srgbClr val="00D4FF"/>
                </a:solidFill>
                <a:latin typeface="Arial"/>
                <a:ea typeface="Arial"/>
                <a:cs typeface="Arial"/>
                <a:sym typeface="Arial"/>
              </a:defRPr>
            </a:lvl1pPr>
          </a:lstStyle>
          <a:p>
            <a:pPr/>
            <a:r>
              <a:t>1. Embedding Generation</a:t>
            </a:r>
          </a:p>
        </p:txBody>
      </p:sp>
      <p:sp>
        <p:nvSpPr>
          <p:cNvPr id="49" name="Text 5"/>
          <p:cNvSpPr txBox="1"/>
          <p:nvPr/>
        </p:nvSpPr>
        <p:spPr>
          <a:xfrm>
            <a:off x="609599" y="1746609"/>
            <a:ext cx="3326650" cy="3751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spcBef>
                <a:spcPts val="300"/>
              </a:spcBef>
              <a:defRPr sz="1200">
                <a:solidFill>
                  <a:srgbClr val="1A2332"/>
                </a:solidFill>
                <a:latin typeface="Arial"/>
                <a:ea typeface="Arial"/>
                <a:cs typeface="Arial"/>
                <a:sym typeface="Arial"/>
              </a:defRPr>
            </a:lvl1pPr>
          </a:lstStyle>
          <a:p>
            <a:pPr/>
            <a:r>
              <a:t>Convert text, images, audio to numerical vectors using ML models</a:t>
            </a:r>
          </a:p>
        </p:txBody>
      </p:sp>
      <p:sp>
        <p:nvSpPr>
          <p:cNvPr id="50" name="Text 6"/>
          <p:cNvSpPr/>
          <p:nvPr/>
        </p:nvSpPr>
        <p:spPr>
          <a:xfrm>
            <a:off x="457200" y="2470509"/>
            <a:ext cx="3566220" cy="1066801"/>
          </a:xfrm>
          <a:prstGeom prst="roundRect">
            <a:avLst>
              <a:gd name="adj" fmla="val 7143"/>
            </a:avLst>
          </a:prstGeom>
          <a:solidFill>
            <a:srgbClr val="F0F4F8"/>
          </a:solidFill>
          <a:ln w="12700">
            <a:miter lim="400000"/>
          </a:ln>
        </p:spPr>
        <p:txBody>
          <a:bodyPr lIns="45719" rIns="45719" anchor="ctr"/>
          <a:lstStyle/>
          <a:p>
            <a:pPr/>
          </a:p>
        </p:txBody>
      </p:sp>
      <p:sp>
        <p:nvSpPr>
          <p:cNvPr id="51" name="Text 7"/>
          <p:cNvSpPr txBox="1"/>
          <p:nvPr/>
        </p:nvSpPr>
        <p:spPr>
          <a:xfrm>
            <a:off x="609599" y="2661009"/>
            <a:ext cx="3326650" cy="2564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spcBef>
                <a:spcPts val="300"/>
              </a:spcBef>
              <a:defRPr b="1" sz="1600">
                <a:solidFill>
                  <a:srgbClr val="00D4FF"/>
                </a:solidFill>
                <a:latin typeface="Arial"/>
                <a:ea typeface="Arial"/>
                <a:cs typeface="Arial"/>
                <a:sym typeface="Arial"/>
              </a:defRPr>
            </a:lvl1pPr>
          </a:lstStyle>
          <a:p>
            <a:pPr/>
            <a:r>
              <a:t>2. Vector Indexing</a:t>
            </a:r>
          </a:p>
        </p:txBody>
      </p:sp>
      <p:sp>
        <p:nvSpPr>
          <p:cNvPr id="52" name="Text 8"/>
          <p:cNvSpPr txBox="1"/>
          <p:nvPr/>
        </p:nvSpPr>
        <p:spPr>
          <a:xfrm>
            <a:off x="609599" y="2965809"/>
            <a:ext cx="3326650" cy="3751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spcBef>
                <a:spcPts val="300"/>
              </a:spcBef>
              <a:defRPr sz="1200">
                <a:solidFill>
                  <a:srgbClr val="1A2332"/>
                </a:solidFill>
                <a:latin typeface="Arial"/>
                <a:ea typeface="Arial"/>
                <a:cs typeface="Arial"/>
                <a:sym typeface="Arial"/>
              </a:defRPr>
            </a:lvl1pPr>
          </a:lstStyle>
          <a:p>
            <a:pPr/>
            <a:r>
              <a:t>Organize vectors using algorithms like HNSW, IVF for fast search</a:t>
            </a:r>
          </a:p>
        </p:txBody>
      </p:sp>
      <p:sp>
        <p:nvSpPr>
          <p:cNvPr id="53" name="Text 9"/>
          <p:cNvSpPr/>
          <p:nvPr/>
        </p:nvSpPr>
        <p:spPr>
          <a:xfrm>
            <a:off x="457200" y="3689709"/>
            <a:ext cx="3566220" cy="1066801"/>
          </a:xfrm>
          <a:prstGeom prst="roundRect">
            <a:avLst>
              <a:gd name="adj" fmla="val 7143"/>
            </a:avLst>
          </a:prstGeom>
          <a:solidFill>
            <a:srgbClr val="F0F4F8"/>
          </a:solidFill>
          <a:ln w="12700">
            <a:miter lim="400000"/>
          </a:ln>
        </p:spPr>
        <p:txBody>
          <a:bodyPr lIns="45719" rIns="45719" anchor="ctr"/>
          <a:lstStyle/>
          <a:p>
            <a:pPr/>
          </a:p>
        </p:txBody>
      </p:sp>
      <p:sp>
        <p:nvSpPr>
          <p:cNvPr id="54" name="Text 10"/>
          <p:cNvSpPr txBox="1"/>
          <p:nvPr/>
        </p:nvSpPr>
        <p:spPr>
          <a:xfrm>
            <a:off x="609599" y="3880208"/>
            <a:ext cx="3326650" cy="2564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spcBef>
                <a:spcPts val="300"/>
              </a:spcBef>
              <a:defRPr b="1" sz="1600">
                <a:solidFill>
                  <a:srgbClr val="00D4FF"/>
                </a:solidFill>
                <a:latin typeface="Arial"/>
                <a:ea typeface="Arial"/>
                <a:cs typeface="Arial"/>
                <a:sym typeface="Arial"/>
              </a:defRPr>
            </a:lvl1pPr>
          </a:lstStyle>
          <a:p>
            <a:pPr/>
            <a:r>
              <a:t>3. Similarity Search</a:t>
            </a:r>
          </a:p>
        </p:txBody>
      </p:sp>
      <p:sp>
        <p:nvSpPr>
          <p:cNvPr id="55" name="Text 11"/>
          <p:cNvSpPr txBox="1"/>
          <p:nvPr/>
        </p:nvSpPr>
        <p:spPr>
          <a:xfrm>
            <a:off x="609599" y="4185009"/>
            <a:ext cx="3326650" cy="3751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spcBef>
                <a:spcPts val="300"/>
              </a:spcBef>
              <a:defRPr sz="1200">
                <a:solidFill>
                  <a:srgbClr val="1A2332"/>
                </a:solidFill>
                <a:latin typeface="Arial"/>
                <a:ea typeface="Arial"/>
                <a:cs typeface="Arial"/>
                <a:sym typeface="Arial"/>
              </a:defRPr>
            </a:lvl1pPr>
          </a:lstStyle>
          <a:p>
            <a:pPr/>
            <a:r>
              <a:t>Find nearest neighbors using cosine similarity or Euclidean distance</a:t>
            </a:r>
          </a:p>
        </p:txBody>
      </p:sp>
      <p:pic>
        <p:nvPicPr>
          <p:cNvPr id="56" name="Image 0" descr="Image 0"/>
          <p:cNvPicPr>
            <a:picLocks noChangeAspect="1"/>
          </p:cNvPicPr>
          <p:nvPr/>
        </p:nvPicPr>
        <p:blipFill>
          <a:blip r:embed="rId3">
            <a:extLst/>
          </a:blip>
          <a:stretch>
            <a:fillRect/>
          </a:stretch>
        </p:blipFill>
        <p:spPr>
          <a:xfrm>
            <a:off x="4328219" y="1060809"/>
            <a:ext cx="4358581" cy="3505201"/>
          </a:xfrm>
          <a:prstGeom prst="rect">
            <a:avLst/>
          </a:prstGeom>
          <a:ln w="12700">
            <a:miter lim="400000"/>
          </a:ln>
        </p:spPr>
      </p:pic>
      <p:sp>
        <p:nvSpPr>
          <p:cNvPr id="57" name="Text 12"/>
          <p:cNvSpPr txBox="1"/>
          <p:nvPr/>
        </p:nvSpPr>
        <p:spPr>
          <a:xfrm>
            <a:off x="4556819" y="1289409"/>
            <a:ext cx="3979409" cy="2922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400"/>
              </a:lnSpc>
              <a:spcBef>
                <a:spcPts val="1200"/>
              </a:spcBef>
              <a:defRPr b="1">
                <a:solidFill>
                  <a:srgbClr val="FFFFFF"/>
                </a:solidFill>
                <a:latin typeface="Arial"/>
                <a:ea typeface="Arial"/>
                <a:cs typeface="Arial"/>
                <a:sym typeface="Arial"/>
              </a:defRPr>
            </a:lvl1pPr>
          </a:lstStyle>
          <a:p>
            <a:pPr/>
            <a:r>
              <a:t>Key Concepts</a:t>
            </a:r>
          </a:p>
        </p:txBody>
      </p:sp>
      <p:sp>
        <p:nvSpPr>
          <p:cNvPr id="58" name="Text 13"/>
          <p:cNvSpPr txBox="1"/>
          <p:nvPr/>
        </p:nvSpPr>
        <p:spPr>
          <a:xfrm>
            <a:off x="4556819" y="1746609"/>
            <a:ext cx="3979409" cy="2564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spcBef>
                <a:spcPts val="600"/>
              </a:spcBef>
              <a:defRPr b="1" sz="1600">
                <a:solidFill>
                  <a:srgbClr val="00D4FF"/>
                </a:solidFill>
                <a:latin typeface="Arial"/>
                <a:ea typeface="Arial"/>
                <a:cs typeface="Arial"/>
                <a:sym typeface="Arial"/>
              </a:defRPr>
            </a:lvl1pPr>
          </a:lstStyle>
          <a:p>
            <a:pPr/>
            <a:r>
              <a:t>High-Dimensional Space</a:t>
            </a:r>
          </a:p>
        </p:txBody>
      </p:sp>
      <p:sp>
        <p:nvSpPr>
          <p:cNvPr id="59" name="Text 14"/>
          <p:cNvSpPr txBox="1"/>
          <p:nvPr/>
        </p:nvSpPr>
        <p:spPr>
          <a:xfrm>
            <a:off x="4556819" y="2089509"/>
            <a:ext cx="3979409" cy="3751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spcBef>
                <a:spcPts val="300"/>
              </a:spcBef>
              <a:defRPr sz="1200">
                <a:solidFill>
                  <a:srgbClr val="FFFFFF"/>
                </a:solidFill>
                <a:latin typeface="Arial"/>
                <a:ea typeface="Arial"/>
                <a:cs typeface="Arial"/>
                <a:sym typeface="Arial"/>
              </a:defRPr>
            </a:lvl1pPr>
          </a:lstStyle>
          <a:p>
            <a:pPr/>
            <a:r>
              <a:t>Vectors typically have 768-4096 dimensions, representing complex semantic relationships.</a:t>
            </a:r>
          </a:p>
        </p:txBody>
      </p:sp>
      <p:sp>
        <p:nvSpPr>
          <p:cNvPr id="60" name="Text 15"/>
          <p:cNvSpPr txBox="1"/>
          <p:nvPr/>
        </p:nvSpPr>
        <p:spPr>
          <a:xfrm>
            <a:off x="4556819" y="2661009"/>
            <a:ext cx="3979409" cy="2564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spcBef>
                <a:spcPts val="600"/>
              </a:spcBef>
              <a:defRPr b="1" sz="1600">
                <a:solidFill>
                  <a:srgbClr val="00D4FF"/>
                </a:solidFill>
                <a:latin typeface="Arial"/>
                <a:ea typeface="Arial"/>
                <a:cs typeface="Arial"/>
                <a:sym typeface="Arial"/>
              </a:defRPr>
            </a:lvl1pPr>
          </a:lstStyle>
          <a:p>
            <a:pPr/>
            <a:r>
              <a:t>Semantic Proximity</a:t>
            </a:r>
          </a:p>
        </p:txBody>
      </p:sp>
      <p:sp>
        <p:nvSpPr>
          <p:cNvPr id="61" name="Text 16"/>
          <p:cNvSpPr txBox="1"/>
          <p:nvPr/>
        </p:nvSpPr>
        <p:spPr>
          <a:xfrm>
            <a:off x="4556819" y="3003909"/>
            <a:ext cx="3979409" cy="3751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spcBef>
                <a:spcPts val="300"/>
              </a:spcBef>
              <a:defRPr sz="1200">
                <a:solidFill>
                  <a:srgbClr val="FFFFFF"/>
                </a:solidFill>
                <a:latin typeface="Arial"/>
                <a:ea typeface="Arial"/>
                <a:cs typeface="Arial"/>
                <a:sym typeface="Arial"/>
              </a:defRPr>
            </a:lvl1pPr>
          </a:lstStyle>
          <a:p>
            <a:pPr/>
            <a:r>
              <a:t>Similar concepts cluster together in vector space, enabling contextual search.</a:t>
            </a:r>
          </a:p>
        </p:txBody>
      </p:sp>
      <p:sp>
        <p:nvSpPr>
          <p:cNvPr id="62" name="Text 17"/>
          <p:cNvSpPr txBox="1"/>
          <p:nvPr/>
        </p:nvSpPr>
        <p:spPr>
          <a:xfrm>
            <a:off x="4556819" y="3575409"/>
            <a:ext cx="3979409" cy="2564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spcBef>
                <a:spcPts val="600"/>
              </a:spcBef>
              <a:defRPr b="1" sz="1600">
                <a:solidFill>
                  <a:srgbClr val="00D4FF"/>
                </a:solidFill>
                <a:latin typeface="Arial"/>
                <a:ea typeface="Arial"/>
                <a:cs typeface="Arial"/>
                <a:sym typeface="Arial"/>
              </a:defRPr>
            </a:lvl1pPr>
          </a:lstStyle>
          <a:p>
            <a:pPr/>
            <a:r>
              <a:t>ANN Algorithms</a:t>
            </a:r>
          </a:p>
        </p:txBody>
      </p:sp>
      <p:sp>
        <p:nvSpPr>
          <p:cNvPr id="63" name="Text 18"/>
          <p:cNvSpPr txBox="1"/>
          <p:nvPr/>
        </p:nvSpPr>
        <p:spPr>
          <a:xfrm>
            <a:off x="4556819" y="3918309"/>
            <a:ext cx="3979409" cy="3751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spcBef>
                <a:spcPts val="300"/>
              </a:spcBef>
              <a:defRPr sz="1200">
                <a:solidFill>
                  <a:srgbClr val="FFFFFF"/>
                </a:solidFill>
                <a:latin typeface="Arial"/>
                <a:ea typeface="Arial"/>
                <a:cs typeface="Arial"/>
                <a:sym typeface="Arial"/>
              </a:defRPr>
            </a:lvl1pPr>
          </a:lstStyle>
          <a:p>
            <a:pPr/>
            <a:r>
              <a:t>Approximate Nearest Neighbor algorithms trade perfect accuracy for millisecond query times.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 name="Text 0"/>
          <p:cNvSpPr txBox="1"/>
          <p:nvPr/>
        </p:nvSpPr>
        <p:spPr>
          <a:xfrm>
            <a:off x="457199" y="304800"/>
            <a:ext cx="8588872" cy="3774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000"/>
              </a:lnSpc>
              <a:defRPr b="1" sz="2700">
                <a:solidFill>
                  <a:srgbClr val="2E4A6F"/>
                </a:solidFill>
                <a:latin typeface="Arial"/>
                <a:ea typeface="Arial"/>
                <a:cs typeface="Arial"/>
                <a:sym typeface="Arial"/>
              </a:defRPr>
            </a:lvl1pPr>
          </a:lstStyle>
          <a:p>
            <a:pPr/>
            <a:r>
              <a:t>How They Work: Embeddings &amp; Vector Space (cont.)</a:t>
            </a:r>
          </a:p>
        </p:txBody>
      </p:sp>
      <p:sp>
        <p:nvSpPr>
          <p:cNvPr id="68" name="Text 1"/>
          <p:cNvSpPr/>
          <p:nvPr/>
        </p:nvSpPr>
        <p:spPr>
          <a:xfrm>
            <a:off x="457200" y="762000"/>
            <a:ext cx="762000" cy="28575"/>
          </a:xfrm>
          <a:prstGeom prst="rect">
            <a:avLst/>
          </a:prstGeom>
          <a:solidFill>
            <a:srgbClr val="00D4FF"/>
          </a:solidFill>
          <a:ln w="12700">
            <a:miter lim="400000"/>
          </a:ln>
        </p:spPr>
        <p:txBody>
          <a:bodyPr lIns="45719" rIns="45719" anchor="ctr"/>
          <a:lstStyle/>
          <a:p>
            <a:pPr/>
          </a:p>
        </p:txBody>
      </p:sp>
      <p:pic>
        <p:nvPicPr>
          <p:cNvPr id="69" name="pasted-movie.png" descr="pasted-movie.png"/>
          <p:cNvPicPr>
            <a:picLocks noChangeAspect="1"/>
          </p:cNvPicPr>
          <p:nvPr/>
        </p:nvPicPr>
        <p:blipFill>
          <a:blip r:embed="rId3">
            <a:extLst/>
          </a:blip>
          <a:stretch>
            <a:fillRect/>
          </a:stretch>
        </p:blipFill>
        <p:spPr>
          <a:xfrm>
            <a:off x="826210" y="958564"/>
            <a:ext cx="7491580" cy="3745791"/>
          </a:xfrm>
          <a:prstGeom prst="rect">
            <a:avLst/>
          </a:prstGeom>
          <a:ln w="12700">
            <a:miter lim="400000"/>
          </a:ln>
        </p:spPr>
      </p:pic>
      <p:sp>
        <p:nvSpPr>
          <p:cNvPr id="70" name="Credit: weaviate.io/blog/vector-search-explained"/>
          <p:cNvSpPr txBox="1"/>
          <p:nvPr/>
        </p:nvSpPr>
        <p:spPr>
          <a:xfrm>
            <a:off x="1598061" y="4683387"/>
            <a:ext cx="5947878" cy="389107"/>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ts val="2400"/>
              </a:lnSpc>
              <a:defRPr b="1" sz="2000">
                <a:solidFill>
                  <a:srgbClr val="7B2FFF"/>
                </a:solidFill>
                <a:latin typeface="Arial"/>
                <a:ea typeface="Arial"/>
                <a:cs typeface="Arial"/>
                <a:sym typeface="Arial"/>
              </a:defRPr>
            </a:pPr>
            <a:r>
              <a:t>Credit: </a:t>
            </a:r>
            <a:r>
              <a:rPr u="sng">
                <a:solidFill>
                  <a:srgbClr val="0563C1"/>
                </a:solidFill>
                <a:uFill>
                  <a:solidFill>
                    <a:srgbClr val="0563C1"/>
                  </a:solidFill>
                </a:uFill>
                <a:hlinkClick r:id="rId4" invalidUrl="" action="" tgtFrame="" tooltip="" history="1" highlightClick="0" endSnd="0"/>
              </a:rPr>
              <a:t>weaviate.io/blog/vector-search-explained</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4" name="Text 0"/>
          <p:cNvSpPr txBox="1"/>
          <p:nvPr/>
        </p:nvSpPr>
        <p:spPr>
          <a:xfrm>
            <a:off x="457200" y="266700"/>
            <a:ext cx="4595432" cy="3774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000"/>
              </a:lnSpc>
              <a:defRPr b="1" sz="2700">
                <a:solidFill>
                  <a:srgbClr val="2E4A6F"/>
                </a:solidFill>
                <a:latin typeface="Arial"/>
                <a:ea typeface="Arial"/>
                <a:cs typeface="Arial"/>
                <a:sym typeface="Arial"/>
              </a:defRPr>
            </a:lvl1pPr>
          </a:lstStyle>
          <a:p>
            <a:pPr/>
            <a:r>
              <a:t>The Hybrid Search Solution</a:t>
            </a:r>
          </a:p>
        </p:txBody>
      </p:sp>
      <p:sp>
        <p:nvSpPr>
          <p:cNvPr id="75" name="Text 1"/>
          <p:cNvSpPr/>
          <p:nvPr/>
        </p:nvSpPr>
        <p:spPr>
          <a:xfrm>
            <a:off x="457200" y="723900"/>
            <a:ext cx="762000" cy="28575"/>
          </a:xfrm>
          <a:prstGeom prst="rect">
            <a:avLst/>
          </a:prstGeom>
          <a:solidFill>
            <a:srgbClr val="00D4FF"/>
          </a:solidFill>
          <a:ln w="12700">
            <a:miter lim="400000"/>
          </a:ln>
        </p:spPr>
        <p:txBody>
          <a:bodyPr lIns="45719" rIns="45719" anchor="ctr"/>
          <a:lstStyle/>
          <a:p>
            <a:pPr/>
          </a:p>
        </p:txBody>
      </p:sp>
      <p:pic>
        <p:nvPicPr>
          <p:cNvPr id="76" name="Image 0" descr="Image 0"/>
          <p:cNvPicPr>
            <a:picLocks noChangeAspect="1"/>
          </p:cNvPicPr>
          <p:nvPr/>
        </p:nvPicPr>
        <p:blipFill>
          <a:blip r:embed="rId3">
            <a:extLst/>
          </a:blip>
          <a:stretch>
            <a:fillRect/>
          </a:stretch>
        </p:blipFill>
        <p:spPr>
          <a:xfrm>
            <a:off x="457200" y="976312"/>
            <a:ext cx="8229600" cy="857251"/>
          </a:xfrm>
          <a:prstGeom prst="rect">
            <a:avLst/>
          </a:prstGeom>
          <a:ln w="12700">
            <a:miter lim="400000"/>
          </a:ln>
        </p:spPr>
      </p:pic>
      <p:sp>
        <p:nvSpPr>
          <p:cNvPr id="77" name="Text 2"/>
          <p:cNvSpPr txBox="1"/>
          <p:nvPr/>
        </p:nvSpPr>
        <p:spPr>
          <a:xfrm>
            <a:off x="647700" y="1128712"/>
            <a:ext cx="8044434" cy="2564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spcBef>
                <a:spcPts val="400"/>
              </a:spcBef>
              <a:defRPr b="1" sz="1600">
                <a:solidFill>
                  <a:srgbClr val="7B2FFF"/>
                </a:solidFill>
                <a:latin typeface="Arial"/>
                <a:ea typeface="Arial"/>
                <a:cs typeface="Arial"/>
                <a:sym typeface="Arial"/>
              </a:defRPr>
            </a:lvl1pPr>
          </a:lstStyle>
          <a:p>
            <a:pPr/>
            <a:r>
              <a:t>The Challenge</a:t>
            </a:r>
          </a:p>
        </p:txBody>
      </p:sp>
      <p:sp>
        <p:nvSpPr>
          <p:cNvPr id="78" name="Text 3"/>
          <p:cNvSpPr txBox="1"/>
          <p:nvPr/>
        </p:nvSpPr>
        <p:spPr>
          <a:xfrm>
            <a:off x="647700" y="1452562"/>
            <a:ext cx="8044434" cy="1846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spcBef>
                <a:spcPts val="300"/>
              </a:spcBef>
              <a:defRPr sz="1200">
                <a:solidFill>
                  <a:srgbClr val="1A2332"/>
                </a:solidFill>
                <a:latin typeface="Arial"/>
                <a:ea typeface="Arial"/>
                <a:cs typeface="Arial"/>
                <a:sym typeface="Arial"/>
              </a:defRPr>
            </a:lvl1pPr>
          </a:lstStyle>
          <a:p>
            <a:pPr/>
            <a:r>
              <a:t>Pure semantic search can miss exact matches that traditional keyword search excels at finding.</a:t>
            </a:r>
          </a:p>
        </p:txBody>
      </p:sp>
      <p:sp>
        <p:nvSpPr>
          <p:cNvPr id="79" name="Text 4"/>
          <p:cNvSpPr/>
          <p:nvPr/>
        </p:nvSpPr>
        <p:spPr>
          <a:xfrm>
            <a:off x="457200" y="1985963"/>
            <a:ext cx="3962400" cy="1695451"/>
          </a:xfrm>
          <a:prstGeom prst="roundRect">
            <a:avLst>
              <a:gd name="adj" fmla="val 4494"/>
            </a:avLst>
          </a:prstGeom>
          <a:solidFill>
            <a:srgbClr val="F0F4F8"/>
          </a:solidFill>
          <a:ln w="12700">
            <a:miter lim="400000"/>
          </a:ln>
        </p:spPr>
        <p:txBody>
          <a:bodyPr lIns="45719" rIns="45719" anchor="ctr"/>
          <a:lstStyle/>
          <a:p>
            <a:pPr/>
          </a:p>
        </p:txBody>
      </p:sp>
      <p:sp>
        <p:nvSpPr>
          <p:cNvPr id="80" name="Text 5"/>
          <p:cNvSpPr/>
          <p:nvPr/>
        </p:nvSpPr>
        <p:spPr>
          <a:xfrm>
            <a:off x="647700" y="2176463"/>
            <a:ext cx="342900" cy="342901"/>
          </a:xfrm>
          <a:prstGeom prst="roundRect">
            <a:avLst>
              <a:gd name="adj" fmla="val 50000"/>
            </a:avLst>
          </a:prstGeom>
          <a:solidFill>
            <a:srgbClr val="7B2FFF"/>
          </a:solidFill>
          <a:ln w="12700">
            <a:miter lim="400000"/>
          </a:ln>
        </p:spPr>
        <p:txBody>
          <a:bodyPr lIns="45719" rIns="45719" anchor="ctr"/>
          <a:lstStyle/>
          <a:p>
            <a:pPr/>
          </a:p>
        </p:txBody>
      </p:sp>
      <p:sp>
        <p:nvSpPr>
          <p:cNvPr id="81" name="Text 6"/>
          <p:cNvSpPr txBox="1"/>
          <p:nvPr/>
        </p:nvSpPr>
        <p:spPr>
          <a:xfrm>
            <a:off x="771375" y="2227957"/>
            <a:ext cx="97308" cy="2178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800"/>
              </a:lnSpc>
              <a:spcBef>
                <a:spcPts val="300"/>
              </a:spcBef>
              <a:defRPr b="1" sz="1300">
                <a:solidFill>
                  <a:srgbClr val="FFFFFF"/>
                </a:solidFill>
                <a:latin typeface="Arial"/>
                <a:ea typeface="Arial"/>
                <a:cs typeface="Arial"/>
                <a:sym typeface="Arial"/>
              </a:defRPr>
            </a:lvl1pPr>
          </a:lstStyle>
          <a:p>
            <a:pPr/>
            <a:r>
              <a:t>1</a:t>
            </a:r>
          </a:p>
        </p:txBody>
      </p:sp>
      <p:sp>
        <p:nvSpPr>
          <p:cNvPr id="82" name="Text 7"/>
          <p:cNvSpPr txBox="1"/>
          <p:nvPr/>
        </p:nvSpPr>
        <p:spPr>
          <a:xfrm>
            <a:off x="1076876" y="2214563"/>
            <a:ext cx="2213934" cy="2564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b="1" sz="1600">
                <a:solidFill>
                  <a:srgbClr val="2E4A6F"/>
                </a:solidFill>
                <a:latin typeface="Arial"/>
                <a:ea typeface="Arial"/>
                <a:cs typeface="Arial"/>
                <a:sym typeface="Arial"/>
              </a:defRPr>
            </a:lvl1pPr>
          </a:lstStyle>
          <a:p>
            <a:pPr/>
            <a:r>
              <a:t>Semantic Search</a:t>
            </a:r>
          </a:p>
        </p:txBody>
      </p:sp>
      <p:sp>
        <p:nvSpPr>
          <p:cNvPr id="83" name="Text 8"/>
          <p:cNvSpPr txBox="1"/>
          <p:nvPr/>
        </p:nvSpPr>
        <p:spPr>
          <a:xfrm>
            <a:off x="714375" y="2614613"/>
            <a:ext cx="3514725" cy="7844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66675" indent="-66675">
              <a:lnSpc>
                <a:spcPts val="2100"/>
              </a:lnSpc>
              <a:buSzPct val="100000"/>
              <a:buChar char="•"/>
              <a:defRPr sz="1400">
                <a:solidFill>
                  <a:srgbClr val="1A2332"/>
                </a:solidFill>
                <a:latin typeface="Arial"/>
                <a:ea typeface="Arial"/>
                <a:cs typeface="Arial"/>
                <a:sym typeface="Arial"/>
              </a:defRPr>
            </a:pPr>
            <a:r>
              <a:t> Understands context and intent</a:t>
            </a:r>
          </a:p>
          <a:p>
            <a:pPr marL="66675" indent="-66675">
              <a:lnSpc>
                <a:spcPts val="2100"/>
              </a:lnSpc>
              <a:buSzPct val="100000"/>
              <a:buChar char="•"/>
              <a:defRPr sz="1400">
                <a:solidFill>
                  <a:srgbClr val="1A2332"/>
                </a:solidFill>
                <a:latin typeface="Arial"/>
                <a:ea typeface="Arial"/>
                <a:cs typeface="Arial"/>
                <a:sym typeface="Arial"/>
              </a:defRPr>
            </a:pPr>
            <a:r>
              <a:t> Finds conceptually similar results</a:t>
            </a:r>
          </a:p>
          <a:p>
            <a:pPr marL="66675" indent="-66675">
              <a:lnSpc>
                <a:spcPts val="2100"/>
              </a:lnSpc>
              <a:buSzPct val="100000"/>
              <a:buChar char="•"/>
              <a:defRPr sz="1400">
                <a:solidFill>
                  <a:srgbClr val="1A2332"/>
                </a:solidFill>
                <a:latin typeface="Arial"/>
                <a:ea typeface="Arial"/>
                <a:cs typeface="Arial"/>
                <a:sym typeface="Arial"/>
              </a:defRPr>
            </a:pPr>
            <a:r>
              <a:t> Works across languages</a:t>
            </a:r>
          </a:p>
        </p:txBody>
      </p:sp>
      <p:sp>
        <p:nvSpPr>
          <p:cNvPr id="84" name="Text 9"/>
          <p:cNvSpPr/>
          <p:nvPr/>
        </p:nvSpPr>
        <p:spPr>
          <a:xfrm>
            <a:off x="4724400" y="1985963"/>
            <a:ext cx="3962400" cy="1695451"/>
          </a:xfrm>
          <a:prstGeom prst="roundRect">
            <a:avLst>
              <a:gd name="adj" fmla="val 4494"/>
            </a:avLst>
          </a:prstGeom>
          <a:solidFill>
            <a:srgbClr val="F0F4F8"/>
          </a:solidFill>
          <a:ln w="12700">
            <a:miter lim="400000"/>
          </a:ln>
        </p:spPr>
        <p:txBody>
          <a:bodyPr lIns="45719" rIns="45719" anchor="ctr"/>
          <a:lstStyle/>
          <a:p>
            <a:pPr/>
          </a:p>
        </p:txBody>
      </p:sp>
      <p:sp>
        <p:nvSpPr>
          <p:cNvPr id="85" name="Text 10"/>
          <p:cNvSpPr/>
          <p:nvPr/>
        </p:nvSpPr>
        <p:spPr>
          <a:xfrm>
            <a:off x="4914900" y="2176463"/>
            <a:ext cx="342900" cy="342901"/>
          </a:xfrm>
          <a:prstGeom prst="roundRect">
            <a:avLst>
              <a:gd name="adj" fmla="val 50000"/>
            </a:avLst>
          </a:prstGeom>
          <a:solidFill>
            <a:srgbClr val="00D4FF"/>
          </a:solidFill>
          <a:ln w="12700">
            <a:miter lim="400000"/>
          </a:ln>
        </p:spPr>
        <p:txBody>
          <a:bodyPr lIns="45719" rIns="45719" anchor="ctr"/>
          <a:lstStyle/>
          <a:p>
            <a:pPr/>
          </a:p>
        </p:txBody>
      </p:sp>
      <p:sp>
        <p:nvSpPr>
          <p:cNvPr id="86" name="Text 11"/>
          <p:cNvSpPr txBox="1"/>
          <p:nvPr/>
        </p:nvSpPr>
        <p:spPr>
          <a:xfrm>
            <a:off x="5038576" y="2227957"/>
            <a:ext cx="97308" cy="2178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800"/>
              </a:lnSpc>
              <a:spcBef>
                <a:spcPts val="300"/>
              </a:spcBef>
              <a:defRPr b="1" sz="1300">
                <a:solidFill>
                  <a:srgbClr val="1A2332"/>
                </a:solidFill>
                <a:latin typeface="Arial"/>
                <a:ea typeface="Arial"/>
                <a:cs typeface="Arial"/>
                <a:sym typeface="Arial"/>
              </a:defRPr>
            </a:lvl1pPr>
          </a:lstStyle>
          <a:p>
            <a:pPr/>
            <a:r>
              <a:t>2</a:t>
            </a:r>
          </a:p>
        </p:txBody>
      </p:sp>
      <p:sp>
        <p:nvSpPr>
          <p:cNvPr id="87" name="Text 12"/>
          <p:cNvSpPr txBox="1"/>
          <p:nvPr/>
        </p:nvSpPr>
        <p:spPr>
          <a:xfrm>
            <a:off x="5353050" y="2214563"/>
            <a:ext cx="1771111" cy="2564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b="1" sz="1600">
                <a:solidFill>
                  <a:srgbClr val="2E4A6F"/>
                </a:solidFill>
                <a:latin typeface="Arial"/>
                <a:ea typeface="Arial"/>
                <a:cs typeface="Arial"/>
                <a:sym typeface="Arial"/>
              </a:defRPr>
            </a:lvl1pPr>
          </a:lstStyle>
          <a:p>
            <a:pPr/>
            <a:r>
              <a:t>Keyword Search</a:t>
            </a:r>
          </a:p>
        </p:txBody>
      </p:sp>
      <p:sp>
        <p:nvSpPr>
          <p:cNvPr id="88" name="Text 13"/>
          <p:cNvSpPr txBox="1"/>
          <p:nvPr/>
        </p:nvSpPr>
        <p:spPr>
          <a:xfrm>
            <a:off x="4981575" y="2614613"/>
            <a:ext cx="3514725" cy="7844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66675" indent="-66675">
              <a:lnSpc>
                <a:spcPts val="2100"/>
              </a:lnSpc>
              <a:buSzPct val="100000"/>
              <a:buChar char="•"/>
              <a:defRPr sz="1400">
                <a:solidFill>
                  <a:srgbClr val="1A2332"/>
                </a:solidFill>
                <a:latin typeface="Arial"/>
                <a:ea typeface="Arial"/>
                <a:cs typeface="Arial"/>
                <a:sym typeface="Arial"/>
              </a:defRPr>
            </a:pPr>
            <a:r>
              <a:t> Precise exact matches</a:t>
            </a:r>
          </a:p>
          <a:p>
            <a:pPr marL="66675" indent="-66675">
              <a:lnSpc>
                <a:spcPts val="2100"/>
              </a:lnSpc>
              <a:buSzPct val="100000"/>
              <a:buChar char="•"/>
              <a:defRPr sz="1400">
                <a:solidFill>
                  <a:srgbClr val="1A2332"/>
                </a:solidFill>
                <a:latin typeface="Arial"/>
                <a:ea typeface="Arial"/>
                <a:cs typeface="Arial"/>
                <a:sym typeface="Arial"/>
              </a:defRPr>
            </a:pPr>
            <a:r>
              <a:t> Fast for specific terms</a:t>
            </a:r>
          </a:p>
          <a:p>
            <a:pPr marL="66675" indent="-66675">
              <a:lnSpc>
                <a:spcPts val="2100"/>
              </a:lnSpc>
              <a:buSzPct val="100000"/>
              <a:buChar char="•"/>
              <a:defRPr sz="1400">
                <a:solidFill>
                  <a:srgbClr val="1A2332"/>
                </a:solidFill>
                <a:latin typeface="Arial"/>
                <a:ea typeface="Arial"/>
                <a:cs typeface="Arial"/>
                <a:sym typeface="Arial"/>
              </a:defRPr>
            </a:pPr>
            <a:r>
              <a:t> Good for technical queries</a:t>
            </a:r>
          </a:p>
        </p:txBody>
      </p:sp>
      <p:pic>
        <p:nvPicPr>
          <p:cNvPr id="89" name="Image 1" descr="Image 1"/>
          <p:cNvPicPr>
            <a:picLocks noChangeAspect="1"/>
          </p:cNvPicPr>
          <p:nvPr/>
        </p:nvPicPr>
        <p:blipFill>
          <a:blip r:embed="rId4">
            <a:extLst/>
          </a:blip>
          <a:stretch>
            <a:fillRect/>
          </a:stretch>
        </p:blipFill>
        <p:spPr>
          <a:xfrm>
            <a:off x="457200" y="3833812"/>
            <a:ext cx="8229600" cy="971551"/>
          </a:xfrm>
          <a:prstGeom prst="rect">
            <a:avLst/>
          </a:prstGeom>
          <a:ln w="12700">
            <a:miter lim="400000"/>
          </a:ln>
        </p:spPr>
      </p:pic>
      <p:sp>
        <p:nvSpPr>
          <p:cNvPr id="90" name="Text 14"/>
          <p:cNvSpPr txBox="1"/>
          <p:nvPr/>
        </p:nvSpPr>
        <p:spPr>
          <a:xfrm>
            <a:off x="569214" y="4062412"/>
            <a:ext cx="8005572" cy="26180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2100"/>
              </a:lnSpc>
              <a:spcBef>
                <a:spcPts val="400"/>
              </a:spcBef>
              <a:defRPr b="1">
                <a:solidFill>
                  <a:srgbClr val="00D4FF"/>
                </a:solidFill>
                <a:latin typeface="Arial"/>
                <a:ea typeface="Arial"/>
                <a:cs typeface="Arial"/>
                <a:sym typeface="Arial"/>
              </a:defRPr>
            </a:lvl1pPr>
          </a:lstStyle>
          <a:p>
            <a:pPr/>
            <a:r>
              <a:t>Hybrid Search = Best of Both Worlds</a:t>
            </a:r>
          </a:p>
        </p:txBody>
      </p:sp>
      <p:sp>
        <p:nvSpPr>
          <p:cNvPr id="91" name="Text 15"/>
          <p:cNvSpPr txBox="1"/>
          <p:nvPr/>
        </p:nvSpPr>
        <p:spPr>
          <a:xfrm>
            <a:off x="569214" y="4386262"/>
            <a:ext cx="8005572" cy="1846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500"/>
              </a:lnSpc>
              <a:spcBef>
                <a:spcPts val="300"/>
              </a:spcBef>
              <a:defRPr sz="1200">
                <a:solidFill>
                  <a:srgbClr val="FFFFFF"/>
                </a:solidFill>
                <a:latin typeface="Arial"/>
                <a:ea typeface="Arial"/>
                <a:cs typeface="Arial"/>
                <a:sym typeface="Arial"/>
              </a:defRPr>
            </a:lvl1pPr>
          </a:lstStyle>
          <a:p>
            <a:pPr/>
            <a:r>
              <a:t>Combine vector similarity with keyword matching using RRF for optimal accuracy.</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Text 0"/>
          <p:cNvSpPr txBox="1"/>
          <p:nvPr/>
        </p:nvSpPr>
        <p:spPr>
          <a:xfrm>
            <a:off x="457199" y="247650"/>
            <a:ext cx="5586415" cy="3774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000"/>
              </a:lnSpc>
              <a:defRPr b="1" sz="2700">
                <a:solidFill>
                  <a:srgbClr val="2E4A6F"/>
                </a:solidFill>
                <a:latin typeface="Arial"/>
                <a:ea typeface="Arial"/>
                <a:cs typeface="Arial"/>
                <a:sym typeface="Arial"/>
              </a:defRPr>
            </a:lvl1pPr>
          </a:lstStyle>
          <a:p>
            <a:pPr/>
            <a:r>
              <a:t>Data Processing: The Foundation</a:t>
            </a:r>
          </a:p>
        </p:txBody>
      </p:sp>
      <p:sp>
        <p:nvSpPr>
          <p:cNvPr id="96" name="Text 1"/>
          <p:cNvSpPr/>
          <p:nvPr/>
        </p:nvSpPr>
        <p:spPr>
          <a:xfrm>
            <a:off x="457200" y="704850"/>
            <a:ext cx="762000" cy="28575"/>
          </a:xfrm>
          <a:prstGeom prst="rect">
            <a:avLst/>
          </a:prstGeom>
          <a:solidFill>
            <a:srgbClr val="00D4FF"/>
          </a:solidFill>
          <a:ln w="12700">
            <a:miter lim="400000"/>
          </a:ln>
        </p:spPr>
        <p:txBody>
          <a:bodyPr lIns="45719" rIns="45719" anchor="ctr"/>
          <a:lstStyle/>
          <a:p>
            <a:pPr/>
          </a:p>
        </p:txBody>
      </p:sp>
      <p:sp>
        <p:nvSpPr>
          <p:cNvPr id="97" name="Text 2"/>
          <p:cNvSpPr txBox="1"/>
          <p:nvPr/>
        </p:nvSpPr>
        <p:spPr>
          <a:xfrm>
            <a:off x="457199" y="709772"/>
            <a:ext cx="8394194" cy="2564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spcBef>
                <a:spcPts val="700"/>
              </a:spcBef>
              <a:defRPr b="1" sz="1600">
                <a:solidFill>
                  <a:srgbClr val="7B2FFF"/>
                </a:solidFill>
                <a:latin typeface="Arial"/>
                <a:ea typeface="Arial"/>
                <a:cs typeface="Arial"/>
                <a:sym typeface="Arial"/>
              </a:defRPr>
            </a:lvl1pPr>
          </a:lstStyle>
          <a:p>
            <a:pPr/>
            <a:r>
              <a:t>Chunking Strategy Matters</a:t>
            </a:r>
          </a:p>
        </p:txBody>
      </p:sp>
      <p:sp>
        <p:nvSpPr>
          <p:cNvPr id="98" name="Text 3"/>
          <p:cNvSpPr/>
          <p:nvPr/>
        </p:nvSpPr>
        <p:spPr>
          <a:xfrm>
            <a:off x="457200" y="1050851"/>
            <a:ext cx="2641551" cy="800101"/>
          </a:xfrm>
          <a:prstGeom prst="roundRect">
            <a:avLst>
              <a:gd name="adj" fmla="val 9524"/>
            </a:avLst>
          </a:prstGeom>
          <a:solidFill>
            <a:srgbClr val="F0F4F8"/>
          </a:solidFill>
          <a:ln w="12700">
            <a:miter lim="400000"/>
          </a:ln>
        </p:spPr>
        <p:txBody>
          <a:bodyPr lIns="45719" rIns="45719" anchor="ctr"/>
          <a:lstStyle/>
          <a:p>
            <a:pPr/>
          </a:p>
        </p:txBody>
      </p:sp>
      <p:sp>
        <p:nvSpPr>
          <p:cNvPr id="99" name="Shape 4"/>
          <p:cNvSpPr/>
          <p:nvPr/>
        </p:nvSpPr>
        <p:spPr>
          <a:xfrm>
            <a:off x="457200" y="1065139"/>
            <a:ext cx="2641551" cy="1"/>
          </a:xfrm>
          <a:prstGeom prst="line">
            <a:avLst/>
          </a:prstGeom>
          <a:ln w="28575">
            <a:solidFill>
              <a:srgbClr val="00D4FF"/>
            </a:solidFill>
          </a:ln>
        </p:spPr>
        <p:txBody>
          <a:bodyPr lIns="45719" rIns="45719"/>
          <a:lstStyle/>
          <a:p>
            <a:pPr/>
          </a:p>
        </p:txBody>
      </p:sp>
      <p:sp>
        <p:nvSpPr>
          <p:cNvPr id="100" name="Text 5"/>
          <p:cNvSpPr txBox="1"/>
          <p:nvPr/>
        </p:nvSpPr>
        <p:spPr>
          <a:xfrm>
            <a:off x="590550" y="1250877"/>
            <a:ext cx="2422347" cy="1900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spcBef>
                <a:spcPts val="300"/>
              </a:spcBef>
              <a:defRPr b="1" sz="1400">
                <a:solidFill>
                  <a:srgbClr val="2E4A6F"/>
                </a:solidFill>
                <a:latin typeface="Arial"/>
                <a:ea typeface="Arial"/>
                <a:cs typeface="Arial"/>
                <a:sym typeface="Arial"/>
              </a:defRPr>
            </a:lvl1pPr>
          </a:lstStyle>
          <a:p>
            <a:pPr/>
            <a:r>
              <a:t>Optimal Size</a:t>
            </a:r>
          </a:p>
        </p:txBody>
      </p:sp>
      <p:sp>
        <p:nvSpPr>
          <p:cNvPr id="101" name="Text 6"/>
          <p:cNvSpPr txBox="1"/>
          <p:nvPr/>
        </p:nvSpPr>
        <p:spPr>
          <a:xfrm>
            <a:off x="590550" y="1489002"/>
            <a:ext cx="2422347" cy="1846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spcBef>
                <a:spcPts val="300"/>
              </a:spcBef>
              <a:defRPr sz="1200">
                <a:solidFill>
                  <a:srgbClr val="1A2332"/>
                </a:solidFill>
                <a:latin typeface="Arial"/>
                <a:ea typeface="Arial"/>
                <a:cs typeface="Arial"/>
                <a:sym typeface="Arial"/>
              </a:defRPr>
            </a:lvl1pPr>
          </a:lstStyle>
          <a:p>
            <a:pPr/>
            <a:r>
              <a:t>256-512 tokens balance</a:t>
            </a:r>
          </a:p>
        </p:txBody>
      </p:sp>
      <p:sp>
        <p:nvSpPr>
          <p:cNvPr id="102" name="Text 7"/>
          <p:cNvSpPr/>
          <p:nvPr/>
        </p:nvSpPr>
        <p:spPr>
          <a:xfrm>
            <a:off x="3251150" y="1050851"/>
            <a:ext cx="2641551" cy="800101"/>
          </a:xfrm>
          <a:prstGeom prst="roundRect">
            <a:avLst>
              <a:gd name="adj" fmla="val 9524"/>
            </a:avLst>
          </a:prstGeom>
          <a:solidFill>
            <a:srgbClr val="F0F4F8"/>
          </a:solidFill>
          <a:ln w="12700">
            <a:miter lim="400000"/>
          </a:ln>
        </p:spPr>
        <p:txBody>
          <a:bodyPr lIns="45719" rIns="45719" anchor="ctr"/>
          <a:lstStyle/>
          <a:p>
            <a:pPr/>
          </a:p>
        </p:txBody>
      </p:sp>
      <p:sp>
        <p:nvSpPr>
          <p:cNvPr id="103" name="Shape 8"/>
          <p:cNvSpPr/>
          <p:nvPr/>
        </p:nvSpPr>
        <p:spPr>
          <a:xfrm>
            <a:off x="3251150" y="1065139"/>
            <a:ext cx="2641551" cy="1"/>
          </a:xfrm>
          <a:prstGeom prst="line">
            <a:avLst/>
          </a:prstGeom>
          <a:ln w="28575">
            <a:solidFill>
              <a:srgbClr val="00D4FF"/>
            </a:solidFill>
          </a:ln>
        </p:spPr>
        <p:txBody>
          <a:bodyPr lIns="45719" rIns="45719"/>
          <a:lstStyle/>
          <a:p>
            <a:pPr/>
          </a:p>
        </p:txBody>
      </p:sp>
      <p:sp>
        <p:nvSpPr>
          <p:cNvPr id="104" name="Text 9"/>
          <p:cNvSpPr txBox="1"/>
          <p:nvPr/>
        </p:nvSpPr>
        <p:spPr>
          <a:xfrm>
            <a:off x="3384500" y="1250877"/>
            <a:ext cx="2422347" cy="1900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spcBef>
                <a:spcPts val="300"/>
              </a:spcBef>
              <a:defRPr b="1" sz="1400">
                <a:solidFill>
                  <a:srgbClr val="2E4A6F"/>
                </a:solidFill>
                <a:latin typeface="Arial"/>
                <a:ea typeface="Arial"/>
                <a:cs typeface="Arial"/>
                <a:sym typeface="Arial"/>
              </a:defRPr>
            </a:lvl1pPr>
          </a:lstStyle>
          <a:p>
            <a:pPr/>
            <a:r>
              <a:t>Overlap</a:t>
            </a:r>
          </a:p>
        </p:txBody>
      </p:sp>
      <p:sp>
        <p:nvSpPr>
          <p:cNvPr id="105" name="Text 10"/>
          <p:cNvSpPr txBox="1"/>
          <p:nvPr/>
        </p:nvSpPr>
        <p:spPr>
          <a:xfrm>
            <a:off x="3384500" y="1489002"/>
            <a:ext cx="2422347" cy="1846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spcBef>
                <a:spcPts val="300"/>
              </a:spcBef>
              <a:defRPr sz="1200">
                <a:solidFill>
                  <a:srgbClr val="1A2332"/>
                </a:solidFill>
                <a:latin typeface="Arial"/>
                <a:ea typeface="Arial"/>
                <a:cs typeface="Arial"/>
                <a:sym typeface="Arial"/>
              </a:defRPr>
            </a:lvl1pPr>
          </a:lstStyle>
          <a:p>
            <a:pPr/>
            <a:r>
              <a:t>10-20% prevents loss</a:t>
            </a:r>
          </a:p>
        </p:txBody>
      </p:sp>
      <p:sp>
        <p:nvSpPr>
          <p:cNvPr id="106" name="Text 11"/>
          <p:cNvSpPr/>
          <p:nvPr/>
        </p:nvSpPr>
        <p:spPr>
          <a:xfrm>
            <a:off x="6045101" y="1050851"/>
            <a:ext cx="2641551" cy="800101"/>
          </a:xfrm>
          <a:prstGeom prst="roundRect">
            <a:avLst>
              <a:gd name="adj" fmla="val 9524"/>
            </a:avLst>
          </a:prstGeom>
          <a:solidFill>
            <a:srgbClr val="F0F4F8"/>
          </a:solidFill>
          <a:ln w="12700">
            <a:miter lim="400000"/>
          </a:ln>
        </p:spPr>
        <p:txBody>
          <a:bodyPr lIns="45719" rIns="45719" anchor="ctr"/>
          <a:lstStyle/>
          <a:p>
            <a:pPr/>
          </a:p>
        </p:txBody>
      </p:sp>
      <p:sp>
        <p:nvSpPr>
          <p:cNvPr id="107" name="Shape 12"/>
          <p:cNvSpPr/>
          <p:nvPr/>
        </p:nvSpPr>
        <p:spPr>
          <a:xfrm>
            <a:off x="6045101" y="1065139"/>
            <a:ext cx="2641551" cy="1"/>
          </a:xfrm>
          <a:prstGeom prst="line">
            <a:avLst/>
          </a:prstGeom>
          <a:ln w="28575">
            <a:solidFill>
              <a:srgbClr val="00D4FF"/>
            </a:solidFill>
          </a:ln>
        </p:spPr>
        <p:txBody>
          <a:bodyPr lIns="45719" rIns="45719"/>
          <a:lstStyle/>
          <a:p>
            <a:pPr/>
          </a:p>
        </p:txBody>
      </p:sp>
      <p:sp>
        <p:nvSpPr>
          <p:cNvPr id="108" name="Text 13"/>
          <p:cNvSpPr txBox="1"/>
          <p:nvPr/>
        </p:nvSpPr>
        <p:spPr>
          <a:xfrm>
            <a:off x="6178451" y="1250877"/>
            <a:ext cx="2422347" cy="1900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spcBef>
                <a:spcPts val="300"/>
              </a:spcBef>
              <a:defRPr b="1" sz="1400">
                <a:solidFill>
                  <a:srgbClr val="2E4A6F"/>
                </a:solidFill>
                <a:latin typeface="Arial"/>
                <a:ea typeface="Arial"/>
                <a:cs typeface="Arial"/>
                <a:sym typeface="Arial"/>
              </a:defRPr>
            </a:lvl1pPr>
          </a:lstStyle>
          <a:p>
            <a:pPr/>
            <a:r>
              <a:t>Metadata</a:t>
            </a:r>
          </a:p>
        </p:txBody>
      </p:sp>
      <p:sp>
        <p:nvSpPr>
          <p:cNvPr id="109" name="Text 14"/>
          <p:cNvSpPr txBox="1"/>
          <p:nvPr/>
        </p:nvSpPr>
        <p:spPr>
          <a:xfrm>
            <a:off x="6178451" y="1489002"/>
            <a:ext cx="2422347" cy="1846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spcBef>
                <a:spcPts val="300"/>
              </a:spcBef>
              <a:defRPr sz="1200">
                <a:solidFill>
                  <a:srgbClr val="1A2332"/>
                </a:solidFill>
                <a:latin typeface="Arial"/>
                <a:ea typeface="Arial"/>
                <a:cs typeface="Arial"/>
                <a:sym typeface="Arial"/>
              </a:defRPr>
            </a:lvl1pPr>
          </a:lstStyle>
          <a:p>
            <a:pPr/>
            <a:r>
              <a:t>Enrich with tags</a:t>
            </a:r>
          </a:p>
        </p:txBody>
      </p:sp>
      <p:sp>
        <p:nvSpPr>
          <p:cNvPr id="110" name="Text 15"/>
          <p:cNvSpPr txBox="1"/>
          <p:nvPr/>
        </p:nvSpPr>
        <p:spPr>
          <a:xfrm>
            <a:off x="457199" y="1968946"/>
            <a:ext cx="8394194" cy="2564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spcBef>
                <a:spcPts val="700"/>
              </a:spcBef>
              <a:defRPr b="1" sz="1600">
                <a:solidFill>
                  <a:srgbClr val="7B2FFF"/>
                </a:solidFill>
                <a:latin typeface="Arial"/>
                <a:ea typeface="Arial"/>
                <a:cs typeface="Arial"/>
                <a:sym typeface="Arial"/>
              </a:defRPr>
            </a:lvl1pPr>
          </a:lstStyle>
          <a:p>
            <a:pPr/>
            <a:r>
              <a:t>Multimodal Processing</a:t>
            </a:r>
          </a:p>
        </p:txBody>
      </p:sp>
      <p:pic>
        <p:nvPicPr>
          <p:cNvPr id="111" name="Image 0" descr="Image 0"/>
          <p:cNvPicPr>
            <a:picLocks noChangeAspect="1"/>
          </p:cNvPicPr>
          <p:nvPr/>
        </p:nvPicPr>
        <p:blipFill>
          <a:blip r:embed="rId2">
            <a:extLst/>
          </a:blip>
          <a:stretch>
            <a:fillRect/>
          </a:stretch>
        </p:blipFill>
        <p:spPr>
          <a:xfrm>
            <a:off x="452437" y="2276687"/>
            <a:ext cx="4745981" cy="2781301"/>
          </a:xfrm>
          <a:prstGeom prst="rect">
            <a:avLst/>
          </a:prstGeom>
          <a:ln w="12700">
            <a:miter lim="400000"/>
          </a:ln>
        </p:spPr>
      </p:pic>
      <p:sp>
        <p:nvSpPr>
          <p:cNvPr id="112" name="Text 16"/>
          <p:cNvSpPr txBox="1"/>
          <p:nvPr/>
        </p:nvSpPr>
        <p:spPr>
          <a:xfrm>
            <a:off x="642937" y="2505287"/>
            <a:ext cx="4452281" cy="29273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spcBef>
                <a:spcPts val="300"/>
              </a:spcBef>
              <a:defRPr b="1" sz="1600">
                <a:solidFill>
                  <a:srgbClr val="00D4FF"/>
                </a:solidFill>
                <a:latin typeface="Arial"/>
                <a:ea typeface="Arial"/>
                <a:cs typeface="Arial"/>
                <a:sym typeface="Arial"/>
              </a:defRPr>
            </a:lvl1pPr>
          </a:lstStyle>
          <a:p>
            <a:pPr/>
            <a:r>
              <a:t>📄 Documents</a:t>
            </a:r>
          </a:p>
        </p:txBody>
      </p:sp>
      <p:sp>
        <p:nvSpPr>
          <p:cNvPr id="113" name="Text 17"/>
          <p:cNvSpPr txBox="1"/>
          <p:nvPr/>
        </p:nvSpPr>
        <p:spPr>
          <a:xfrm>
            <a:off x="642937" y="2822787"/>
            <a:ext cx="4452281" cy="1846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spcBef>
                <a:spcPts val="300"/>
              </a:spcBef>
              <a:defRPr sz="1200">
                <a:solidFill>
                  <a:srgbClr val="FFFFFF"/>
                </a:solidFill>
                <a:latin typeface="Arial"/>
                <a:ea typeface="Arial"/>
                <a:cs typeface="Arial"/>
                <a:sym typeface="Arial"/>
              </a:defRPr>
            </a:lvl1pPr>
          </a:lstStyle>
          <a:p>
            <a:pPr/>
            <a:r>
              <a:t>PDF parsing, OCR extraction</a:t>
            </a:r>
          </a:p>
        </p:txBody>
      </p:sp>
      <p:sp>
        <p:nvSpPr>
          <p:cNvPr id="114" name="Text 18"/>
          <p:cNvSpPr txBox="1"/>
          <p:nvPr/>
        </p:nvSpPr>
        <p:spPr>
          <a:xfrm>
            <a:off x="642937" y="3114887"/>
            <a:ext cx="4452281" cy="29273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spcBef>
                <a:spcPts val="300"/>
              </a:spcBef>
              <a:defRPr b="1" sz="1600">
                <a:solidFill>
                  <a:srgbClr val="00D4FF"/>
                </a:solidFill>
                <a:latin typeface="Arial"/>
                <a:ea typeface="Arial"/>
                <a:cs typeface="Arial"/>
                <a:sym typeface="Arial"/>
              </a:defRPr>
            </a:lvl1pPr>
          </a:lstStyle>
          <a:p>
            <a:pPr/>
            <a:r>
              <a:t>🖼️ Images</a:t>
            </a:r>
          </a:p>
        </p:txBody>
      </p:sp>
      <p:sp>
        <p:nvSpPr>
          <p:cNvPr id="115" name="Text 19"/>
          <p:cNvSpPr txBox="1"/>
          <p:nvPr/>
        </p:nvSpPr>
        <p:spPr>
          <a:xfrm>
            <a:off x="642937" y="3432387"/>
            <a:ext cx="4452281" cy="1846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spcBef>
                <a:spcPts val="300"/>
              </a:spcBef>
              <a:defRPr sz="1200">
                <a:solidFill>
                  <a:srgbClr val="FFFFFF"/>
                </a:solidFill>
                <a:latin typeface="Arial"/>
                <a:ea typeface="Arial"/>
                <a:cs typeface="Arial"/>
                <a:sym typeface="Arial"/>
              </a:defRPr>
            </a:lvl1pPr>
          </a:lstStyle>
          <a:p>
            <a:pPr/>
            <a:r>
              <a:t>CLIP, vision transformers</a:t>
            </a:r>
          </a:p>
        </p:txBody>
      </p:sp>
      <p:sp>
        <p:nvSpPr>
          <p:cNvPr id="116" name="Text 20"/>
          <p:cNvSpPr txBox="1"/>
          <p:nvPr/>
        </p:nvSpPr>
        <p:spPr>
          <a:xfrm>
            <a:off x="642937" y="3724486"/>
            <a:ext cx="4452281" cy="29273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spcBef>
                <a:spcPts val="300"/>
              </a:spcBef>
              <a:defRPr b="1" sz="1600">
                <a:solidFill>
                  <a:srgbClr val="00D4FF"/>
                </a:solidFill>
                <a:latin typeface="Arial"/>
                <a:ea typeface="Arial"/>
                <a:cs typeface="Arial"/>
                <a:sym typeface="Arial"/>
              </a:defRPr>
            </a:lvl1pPr>
          </a:lstStyle>
          <a:p>
            <a:pPr/>
            <a:r>
              <a:t>🎵 Audio</a:t>
            </a:r>
          </a:p>
        </p:txBody>
      </p:sp>
      <p:sp>
        <p:nvSpPr>
          <p:cNvPr id="117" name="Text 21"/>
          <p:cNvSpPr txBox="1"/>
          <p:nvPr/>
        </p:nvSpPr>
        <p:spPr>
          <a:xfrm>
            <a:off x="642937" y="4041987"/>
            <a:ext cx="4452281" cy="1846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spcBef>
                <a:spcPts val="300"/>
              </a:spcBef>
              <a:defRPr sz="1200">
                <a:solidFill>
                  <a:srgbClr val="FFFFFF"/>
                </a:solidFill>
                <a:latin typeface="Arial"/>
                <a:ea typeface="Arial"/>
                <a:cs typeface="Arial"/>
                <a:sym typeface="Arial"/>
              </a:defRPr>
            </a:lvl1pPr>
          </a:lstStyle>
          <a:p>
            <a:pPr/>
            <a:r>
              <a:t>Whisper transcription</a:t>
            </a:r>
          </a:p>
        </p:txBody>
      </p:sp>
      <p:sp>
        <p:nvSpPr>
          <p:cNvPr id="118" name="Text 22"/>
          <p:cNvSpPr txBox="1"/>
          <p:nvPr/>
        </p:nvSpPr>
        <p:spPr>
          <a:xfrm>
            <a:off x="642937" y="4334087"/>
            <a:ext cx="4452281" cy="29273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spcBef>
                <a:spcPts val="300"/>
              </a:spcBef>
              <a:defRPr b="1" sz="1600">
                <a:solidFill>
                  <a:srgbClr val="00D4FF"/>
                </a:solidFill>
                <a:latin typeface="Arial"/>
                <a:ea typeface="Arial"/>
                <a:cs typeface="Arial"/>
                <a:sym typeface="Arial"/>
              </a:defRPr>
            </a:lvl1pPr>
          </a:lstStyle>
          <a:p>
            <a:pPr/>
            <a:r>
              <a:t>🎥 Video</a:t>
            </a:r>
          </a:p>
        </p:txBody>
      </p:sp>
      <p:sp>
        <p:nvSpPr>
          <p:cNvPr id="119" name="Text 23"/>
          <p:cNvSpPr txBox="1"/>
          <p:nvPr/>
        </p:nvSpPr>
        <p:spPr>
          <a:xfrm>
            <a:off x="642937" y="4651587"/>
            <a:ext cx="4452281" cy="1846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spcBef>
                <a:spcPts val="300"/>
              </a:spcBef>
              <a:defRPr sz="1200">
                <a:solidFill>
                  <a:srgbClr val="FFFFFF"/>
                </a:solidFill>
                <a:latin typeface="Arial"/>
                <a:ea typeface="Arial"/>
                <a:cs typeface="Arial"/>
                <a:sym typeface="Arial"/>
              </a:defRPr>
            </a:lvl1pPr>
          </a:lstStyle>
          <a:p>
            <a:pPr/>
            <a:r>
              <a:t>Frame sampling, fusion</a:t>
            </a:r>
          </a:p>
        </p:txBody>
      </p:sp>
      <p:sp>
        <p:nvSpPr>
          <p:cNvPr id="120" name="Text 24"/>
          <p:cNvSpPr/>
          <p:nvPr/>
        </p:nvSpPr>
        <p:spPr>
          <a:xfrm>
            <a:off x="5503217" y="3091074"/>
            <a:ext cx="3178821" cy="1152526"/>
          </a:xfrm>
          <a:prstGeom prst="roundRect">
            <a:avLst>
              <a:gd name="adj" fmla="val 6612"/>
            </a:avLst>
          </a:prstGeom>
          <a:solidFill>
            <a:srgbClr val="7B2FFF">
              <a:alpha val="10000"/>
            </a:srgbClr>
          </a:solidFill>
          <a:ln w="19050">
            <a:solidFill>
              <a:srgbClr val="7B2FFF"/>
            </a:solidFill>
          </a:ln>
        </p:spPr>
        <p:txBody>
          <a:bodyPr lIns="45719" rIns="45719" anchor="ctr"/>
          <a:lstStyle/>
          <a:p>
            <a:pPr/>
          </a:p>
        </p:txBody>
      </p:sp>
      <p:sp>
        <p:nvSpPr>
          <p:cNvPr id="121" name="Text 25"/>
          <p:cNvSpPr txBox="1"/>
          <p:nvPr/>
        </p:nvSpPr>
        <p:spPr>
          <a:xfrm>
            <a:off x="5693717" y="3319674"/>
            <a:ext cx="2853777" cy="1954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spcBef>
                <a:spcPts val="700"/>
              </a:spcBef>
              <a:defRPr b="1" sz="1600">
                <a:solidFill>
                  <a:srgbClr val="7B2FFF"/>
                </a:solidFill>
                <a:latin typeface="Arial"/>
                <a:ea typeface="Arial"/>
                <a:cs typeface="Arial"/>
                <a:sym typeface="Arial"/>
              </a:defRPr>
            </a:lvl1pPr>
          </a:lstStyle>
          <a:p>
            <a:pPr/>
            <a:r>
              <a:t>Pro Tip</a:t>
            </a:r>
          </a:p>
        </p:txBody>
      </p:sp>
      <p:sp>
        <p:nvSpPr>
          <p:cNvPr id="122" name="Text 26"/>
          <p:cNvSpPr txBox="1"/>
          <p:nvPr/>
        </p:nvSpPr>
        <p:spPr>
          <a:xfrm>
            <a:off x="5693717" y="3614949"/>
            <a:ext cx="2853777" cy="3751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spcBef>
                <a:spcPts val="300"/>
              </a:spcBef>
              <a:defRPr sz="1200">
                <a:solidFill>
                  <a:srgbClr val="1A2332"/>
                </a:solidFill>
                <a:latin typeface="Arial"/>
                <a:ea typeface="Arial"/>
                <a:cs typeface="Arial"/>
                <a:sym typeface="Arial"/>
              </a:defRPr>
            </a:lvl1pPr>
          </a:lstStyle>
          <a:p>
            <a:pPr/>
            <a:r>
              <a:t>Quality processing = Better retrieval. Invest in robust pipelines.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 name="Text 0"/>
          <p:cNvSpPr txBox="1"/>
          <p:nvPr/>
        </p:nvSpPr>
        <p:spPr>
          <a:xfrm>
            <a:off x="457199" y="247650"/>
            <a:ext cx="5605846" cy="3774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000"/>
              </a:lnSpc>
              <a:defRPr b="1" sz="2700">
                <a:solidFill>
                  <a:srgbClr val="2E4A6F"/>
                </a:solidFill>
                <a:latin typeface="Arial"/>
                <a:ea typeface="Arial"/>
                <a:cs typeface="Arial"/>
                <a:sym typeface="Arial"/>
              </a:defRPr>
            </a:lvl1pPr>
          </a:lstStyle>
          <a:p>
            <a:pPr/>
            <a:r>
              <a:t>One Tool for All Vector Databases</a:t>
            </a:r>
          </a:p>
        </p:txBody>
      </p:sp>
      <p:sp>
        <p:nvSpPr>
          <p:cNvPr id="125" name="Text 1"/>
          <p:cNvSpPr/>
          <p:nvPr/>
        </p:nvSpPr>
        <p:spPr>
          <a:xfrm>
            <a:off x="457200" y="704850"/>
            <a:ext cx="762000" cy="28575"/>
          </a:xfrm>
          <a:prstGeom prst="rect">
            <a:avLst/>
          </a:prstGeom>
          <a:solidFill>
            <a:srgbClr val="00D4FF"/>
          </a:solidFill>
          <a:ln w="12700">
            <a:miter lim="400000"/>
          </a:ln>
        </p:spPr>
        <p:txBody>
          <a:bodyPr lIns="45719" rIns="45719" anchor="ctr"/>
          <a:lstStyle/>
          <a:p>
            <a:pPr/>
          </a:p>
        </p:txBody>
      </p:sp>
      <p:pic>
        <p:nvPicPr>
          <p:cNvPr id="126" name="Image 0" descr="Image 0"/>
          <p:cNvPicPr>
            <a:picLocks noChangeAspect="1"/>
          </p:cNvPicPr>
          <p:nvPr/>
        </p:nvPicPr>
        <p:blipFill>
          <a:blip r:embed="rId2">
            <a:extLst/>
          </a:blip>
          <a:stretch>
            <a:fillRect/>
          </a:stretch>
        </p:blipFill>
        <p:spPr>
          <a:xfrm>
            <a:off x="457200" y="1019175"/>
            <a:ext cx="8229600" cy="828675"/>
          </a:xfrm>
          <a:prstGeom prst="rect">
            <a:avLst/>
          </a:prstGeom>
          <a:ln w="12700">
            <a:miter lim="400000"/>
          </a:ln>
        </p:spPr>
      </p:pic>
      <p:sp>
        <p:nvSpPr>
          <p:cNvPr id="127" name="Text 2"/>
          <p:cNvSpPr txBox="1"/>
          <p:nvPr/>
        </p:nvSpPr>
        <p:spPr>
          <a:xfrm>
            <a:off x="647700" y="1209675"/>
            <a:ext cx="8044434" cy="1954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spcBef>
                <a:spcPts val="400"/>
              </a:spcBef>
              <a:defRPr b="1" sz="1600">
                <a:solidFill>
                  <a:srgbClr val="2E4A6F"/>
                </a:solidFill>
                <a:latin typeface="Arial"/>
                <a:ea typeface="Arial"/>
                <a:cs typeface="Arial"/>
                <a:sym typeface="Arial"/>
              </a:defRPr>
            </a:lvl1pPr>
          </a:lstStyle>
          <a:p>
            <a:pPr/>
            <a:r>
              <a:t>The Problem</a:t>
            </a:r>
          </a:p>
        </p:txBody>
      </p:sp>
      <p:sp>
        <p:nvSpPr>
          <p:cNvPr id="128" name="Text 3"/>
          <p:cNvSpPr txBox="1"/>
          <p:nvPr/>
        </p:nvSpPr>
        <p:spPr>
          <a:xfrm>
            <a:off x="647700" y="1466850"/>
            <a:ext cx="8044434" cy="1846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spcBef>
                <a:spcPts val="300"/>
              </a:spcBef>
              <a:defRPr sz="1200">
                <a:solidFill>
                  <a:srgbClr val="1A2332"/>
                </a:solidFill>
                <a:latin typeface="Arial"/>
                <a:ea typeface="Arial"/>
                <a:cs typeface="Arial"/>
                <a:sym typeface="Arial"/>
              </a:defRPr>
            </a:lvl1pPr>
          </a:lstStyle>
          <a:p>
            <a:pPr/>
            <a:r>
              <a:t>Each VDB has unique APIs and workflows. Switching means learning different interfaces.</a:t>
            </a:r>
          </a:p>
        </p:txBody>
      </p:sp>
      <p:sp>
        <p:nvSpPr>
          <p:cNvPr id="129" name="Text 4"/>
          <p:cNvSpPr txBox="1"/>
          <p:nvPr/>
        </p:nvSpPr>
        <p:spPr>
          <a:xfrm>
            <a:off x="457200" y="1996528"/>
            <a:ext cx="4850008" cy="2564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b="1" sz="1600">
                <a:solidFill>
                  <a:srgbClr val="7B2FFF"/>
                </a:solidFill>
                <a:latin typeface="Arial"/>
                <a:ea typeface="Arial"/>
                <a:cs typeface="Arial"/>
                <a:sym typeface="Arial"/>
              </a:defRPr>
            </a:lvl1pPr>
          </a:lstStyle>
          <a:p>
            <a:pPr/>
            <a:r>
              <a:t>weave-cli Solution</a:t>
            </a:r>
          </a:p>
        </p:txBody>
      </p:sp>
      <p:sp>
        <p:nvSpPr>
          <p:cNvPr id="130" name="Text 5"/>
          <p:cNvSpPr/>
          <p:nvPr/>
        </p:nvSpPr>
        <p:spPr>
          <a:xfrm>
            <a:off x="457200" y="2339428"/>
            <a:ext cx="2329756" cy="720031"/>
          </a:xfrm>
          <a:prstGeom prst="roundRect">
            <a:avLst>
              <a:gd name="adj" fmla="val 10583"/>
            </a:avLst>
          </a:prstGeom>
          <a:solidFill>
            <a:srgbClr val="F0F4F8"/>
          </a:solidFill>
          <a:ln w="12700">
            <a:miter lim="400000"/>
          </a:ln>
        </p:spPr>
        <p:txBody>
          <a:bodyPr lIns="45719" rIns="45719" anchor="ctr"/>
          <a:lstStyle/>
          <a:p>
            <a:pPr/>
          </a:p>
        </p:txBody>
      </p:sp>
      <p:sp>
        <p:nvSpPr>
          <p:cNvPr id="131" name="Text 6"/>
          <p:cNvSpPr txBox="1"/>
          <p:nvPr/>
        </p:nvSpPr>
        <p:spPr>
          <a:xfrm>
            <a:off x="590550" y="2510878"/>
            <a:ext cx="2104317" cy="17992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400"/>
              </a:lnSpc>
              <a:spcBef>
                <a:spcPts val="300"/>
              </a:spcBef>
              <a:defRPr b="1" sz="1400">
                <a:solidFill>
                  <a:srgbClr val="00D4FF"/>
                </a:solidFill>
                <a:latin typeface="Arial"/>
                <a:ea typeface="Arial"/>
                <a:cs typeface="Arial"/>
                <a:sym typeface="Arial"/>
              </a:defRPr>
            </a:lvl1pPr>
          </a:lstStyle>
          <a:p>
            <a:pPr/>
            <a:r>
              <a:t>✓ Unified Interface</a:t>
            </a:r>
          </a:p>
        </p:txBody>
      </p:sp>
      <p:sp>
        <p:nvSpPr>
          <p:cNvPr id="132" name="Text 7"/>
          <p:cNvSpPr txBox="1"/>
          <p:nvPr/>
        </p:nvSpPr>
        <p:spPr>
          <a:xfrm>
            <a:off x="590550" y="2735609"/>
            <a:ext cx="2104317" cy="1542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200"/>
              </a:lnSpc>
              <a:spcBef>
                <a:spcPts val="300"/>
              </a:spcBef>
              <a:defRPr sz="1200">
                <a:solidFill>
                  <a:srgbClr val="1A2332"/>
                </a:solidFill>
                <a:latin typeface="Arial"/>
                <a:ea typeface="Arial"/>
                <a:cs typeface="Arial"/>
                <a:sym typeface="Arial"/>
              </a:defRPr>
            </a:lvl1pPr>
          </a:lstStyle>
          <a:p>
            <a:pPr/>
            <a:r>
              <a:t>One CLI for all VDBs</a:t>
            </a:r>
          </a:p>
        </p:txBody>
      </p:sp>
      <p:sp>
        <p:nvSpPr>
          <p:cNvPr id="133" name="Text 8"/>
          <p:cNvSpPr/>
          <p:nvPr/>
        </p:nvSpPr>
        <p:spPr>
          <a:xfrm>
            <a:off x="2882205" y="2339428"/>
            <a:ext cx="2329904" cy="720031"/>
          </a:xfrm>
          <a:prstGeom prst="roundRect">
            <a:avLst>
              <a:gd name="adj" fmla="val 10583"/>
            </a:avLst>
          </a:prstGeom>
          <a:solidFill>
            <a:srgbClr val="F0F4F8"/>
          </a:solidFill>
          <a:ln w="12700">
            <a:miter lim="400000"/>
          </a:ln>
        </p:spPr>
        <p:txBody>
          <a:bodyPr lIns="45719" rIns="45719" anchor="ctr"/>
          <a:lstStyle/>
          <a:p>
            <a:pPr/>
          </a:p>
        </p:txBody>
      </p:sp>
      <p:sp>
        <p:nvSpPr>
          <p:cNvPr id="134" name="Text 9"/>
          <p:cNvSpPr txBox="1"/>
          <p:nvPr/>
        </p:nvSpPr>
        <p:spPr>
          <a:xfrm>
            <a:off x="3015555" y="2510878"/>
            <a:ext cx="2104469" cy="17992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400"/>
              </a:lnSpc>
              <a:spcBef>
                <a:spcPts val="300"/>
              </a:spcBef>
              <a:defRPr b="1" sz="1400">
                <a:solidFill>
                  <a:srgbClr val="00D4FF"/>
                </a:solidFill>
                <a:latin typeface="Arial"/>
                <a:ea typeface="Arial"/>
                <a:cs typeface="Arial"/>
                <a:sym typeface="Arial"/>
              </a:defRPr>
            </a:lvl1pPr>
          </a:lstStyle>
          <a:p>
            <a:pPr/>
            <a:r>
              <a:t>✓ Fast Prototyping</a:t>
            </a:r>
          </a:p>
        </p:txBody>
      </p:sp>
      <p:sp>
        <p:nvSpPr>
          <p:cNvPr id="135" name="Text 10"/>
          <p:cNvSpPr txBox="1"/>
          <p:nvPr/>
        </p:nvSpPr>
        <p:spPr>
          <a:xfrm>
            <a:off x="3015555" y="2735609"/>
            <a:ext cx="2104469" cy="1542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200"/>
              </a:lnSpc>
              <a:spcBef>
                <a:spcPts val="300"/>
              </a:spcBef>
              <a:defRPr sz="1200">
                <a:solidFill>
                  <a:srgbClr val="1A2332"/>
                </a:solidFill>
                <a:latin typeface="Arial"/>
                <a:ea typeface="Arial"/>
                <a:cs typeface="Arial"/>
                <a:sym typeface="Arial"/>
              </a:defRPr>
            </a:lvl1pPr>
          </a:lstStyle>
          <a:p>
            <a:pPr/>
            <a:r>
              <a:t>Test multiple VDBs</a:t>
            </a:r>
          </a:p>
        </p:txBody>
      </p:sp>
      <p:sp>
        <p:nvSpPr>
          <p:cNvPr id="136" name="Text 11"/>
          <p:cNvSpPr/>
          <p:nvPr/>
        </p:nvSpPr>
        <p:spPr>
          <a:xfrm>
            <a:off x="457200" y="3154709"/>
            <a:ext cx="2329756" cy="720031"/>
          </a:xfrm>
          <a:prstGeom prst="roundRect">
            <a:avLst>
              <a:gd name="adj" fmla="val 10583"/>
            </a:avLst>
          </a:prstGeom>
          <a:solidFill>
            <a:srgbClr val="F0F4F8"/>
          </a:solidFill>
          <a:ln w="12700">
            <a:miter lim="400000"/>
          </a:ln>
        </p:spPr>
        <p:txBody>
          <a:bodyPr lIns="45719" rIns="45719" anchor="ctr"/>
          <a:lstStyle/>
          <a:p>
            <a:pPr/>
          </a:p>
        </p:txBody>
      </p:sp>
      <p:sp>
        <p:nvSpPr>
          <p:cNvPr id="137" name="Text 12"/>
          <p:cNvSpPr txBox="1"/>
          <p:nvPr/>
        </p:nvSpPr>
        <p:spPr>
          <a:xfrm>
            <a:off x="590550" y="3326160"/>
            <a:ext cx="2104317" cy="1799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400"/>
              </a:lnSpc>
              <a:spcBef>
                <a:spcPts val="300"/>
              </a:spcBef>
              <a:defRPr b="1" sz="1400">
                <a:solidFill>
                  <a:srgbClr val="00D4FF"/>
                </a:solidFill>
                <a:latin typeface="Arial"/>
                <a:ea typeface="Arial"/>
                <a:cs typeface="Arial"/>
                <a:sym typeface="Arial"/>
              </a:defRPr>
            </a:lvl1pPr>
          </a:lstStyle>
          <a:p>
            <a:pPr/>
            <a:r>
              <a:t>✓ Dev to Prod</a:t>
            </a:r>
          </a:p>
        </p:txBody>
      </p:sp>
      <p:sp>
        <p:nvSpPr>
          <p:cNvPr id="138" name="Text 13"/>
          <p:cNvSpPr txBox="1"/>
          <p:nvPr/>
        </p:nvSpPr>
        <p:spPr>
          <a:xfrm>
            <a:off x="590550" y="3550889"/>
            <a:ext cx="2104317" cy="1542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200"/>
              </a:lnSpc>
              <a:spcBef>
                <a:spcPts val="300"/>
              </a:spcBef>
              <a:defRPr sz="1200">
                <a:solidFill>
                  <a:srgbClr val="1A2332"/>
                </a:solidFill>
                <a:latin typeface="Arial"/>
                <a:ea typeface="Arial"/>
                <a:cs typeface="Arial"/>
                <a:sym typeface="Arial"/>
              </a:defRPr>
            </a:lvl1pPr>
          </a:lstStyle>
          <a:p>
            <a:pPr/>
            <a:r>
              <a:t>Seamless transitions</a:t>
            </a:r>
          </a:p>
        </p:txBody>
      </p:sp>
      <p:sp>
        <p:nvSpPr>
          <p:cNvPr id="139" name="Text 14"/>
          <p:cNvSpPr/>
          <p:nvPr/>
        </p:nvSpPr>
        <p:spPr>
          <a:xfrm>
            <a:off x="2882205" y="3154709"/>
            <a:ext cx="2329904" cy="720031"/>
          </a:xfrm>
          <a:prstGeom prst="roundRect">
            <a:avLst>
              <a:gd name="adj" fmla="val 10583"/>
            </a:avLst>
          </a:prstGeom>
          <a:solidFill>
            <a:srgbClr val="F0F4F8"/>
          </a:solidFill>
          <a:ln w="12700">
            <a:miter lim="400000"/>
          </a:ln>
        </p:spPr>
        <p:txBody>
          <a:bodyPr lIns="45719" rIns="45719" anchor="ctr"/>
          <a:lstStyle/>
          <a:p>
            <a:pPr/>
          </a:p>
        </p:txBody>
      </p:sp>
      <p:sp>
        <p:nvSpPr>
          <p:cNvPr id="140" name="Text 15"/>
          <p:cNvSpPr txBox="1"/>
          <p:nvPr/>
        </p:nvSpPr>
        <p:spPr>
          <a:xfrm>
            <a:off x="3015555" y="3326160"/>
            <a:ext cx="2104469" cy="1799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400"/>
              </a:lnSpc>
              <a:spcBef>
                <a:spcPts val="300"/>
              </a:spcBef>
              <a:defRPr b="1" sz="1400">
                <a:solidFill>
                  <a:srgbClr val="00D4FF"/>
                </a:solidFill>
                <a:latin typeface="Arial"/>
                <a:ea typeface="Arial"/>
                <a:cs typeface="Arial"/>
                <a:sym typeface="Arial"/>
              </a:defRPr>
            </a:lvl1pPr>
          </a:lstStyle>
          <a:p>
            <a:pPr/>
            <a:r>
              <a:t>✓ AI-Powered</a:t>
            </a:r>
          </a:p>
        </p:txBody>
      </p:sp>
      <p:sp>
        <p:nvSpPr>
          <p:cNvPr id="141" name="Text 16"/>
          <p:cNvSpPr txBox="1"/>
          <p:nvPr/>
        </p:nvSpPr>
        <p:spPr>
          <a:xfrm>
            <a:off x="3015555" y="3550889"/>
            <a:ext cx="2104469" cy="1542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200"/>
              </a:lnSpc>
              <a:spcBef>
                <a:spcPts val="300"/>
              </a:spcBef>
              <a:defRPr sz="1200">
                <a:solidFill>
                  <a:srgbClr val="1A2332"/>
                </a:solidFill>
                <a:latin typeface="Arial"/>
                <a:ea typeface="Arial"/>
                <a:cs typeface="Arial"/>
                <a:sym typeface="Arial"/>
              </a:defRPr>
            </a:lvl1pPr>
          </a:lstStyle>
          <a:p>
            <a:pPr/>
            <a:r>
              <a:t>Agent-assisted ops</a:t>
            </a:r>
          </a:p>
        </p:txBody>
      </p:sp>
      <p:sp>
        <p:nvSpPr>
          <p:cNvPr id="142" name="Text 17"/>
          <p:cNvSpPr/>
          <p:nvPr/>
        </p:nvSpPr>
        <p:spPr>
          <a:xfrm>
            <a:off x="457200" y="3969989"/>
            <a:ext cx="2329756" cy="720031"/>
          </a:xfrm>
          <a:prstGeom prst="roundRect">
            <a:avLst>
              <a:gd name="adj" fmla="val 10583"/>
            </a:avLst>
          </a:prstGeom>
          <a:solidFill>
            <a:srgbClr val="F0F4F8"/>
          </a:solidFill>
          <a:ln w="12700">
            <a:miter lim="400000"/>
          </a:ln>
        </p:spPr>
        <p:txBody>
          <a:bodyPr lIns="45719" rIns="45719" anchor="ctr"/>
          <a:lstStyle/>
          <a:p>
            <a:pPr/>
          </a:p>
        </p:txBody>
      </p:sp>
      <p:sp>
        <p:nvSpPr>
          <p:cNvPr id="143" name="Text 18"/>
          <p:cNvSpPr txBox="1"/>
          <p:nvPr/>
        </p:nvSpPr>
        <p:spPr>
          <a:xfrm>
            <a:off x="590550" y="4141439"/>
            <a:ext cx="2104317" cy="17992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400"/>
              </a:lnSpc>
              <a:spcBef>
                <a:spcPts val="300"/>
              </a:spcBef>
              <a:defRPr b="1" sz="1400">
                <a:solidFill>
                  <a:srgbClr val="00D4FF"/>
                </a:solidFill>
                <a:latin typeface="Arial"/>
                <a:ea typeface="Arial"/>
                <a:cs typeface="Arial"/>
                <a:sym typeface="Arial"/>
              </a:defRPr>
            </a:lvl1pPr>
          </a:lstStyle>
          <a:p>
            <a:pPr/>
            <a:r>
              <a:t>✓ Benchmarking</a:t>
            </a:r>
          </a:p>
        </p:txBody>
      </p:sp>
      <p:sp>
        <p:nvSpPr>
          <p:cNvPr id="144" name="Text 19"/>
          <p:cNvSpPr txBox="1"/>
          <p:nvPr/>
        </p:nvSpPr>
        <p:spPr>
          <a:xfrm>
            <a:off x="590550" y="4366171"/>
            <a:ext cx="2104317" cy="15421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200"/>
              </a:lnSpc>
              <a:spcBef>
                <a:spcPts val="300"/>
              </a:spcBef>
              <a:defRPr sz="1200">
                <a:solidFill>
                  <a:srgbClr val="1A2332"/>
                </a:solidFill>
                <a:latin typeface="Arial"/>
                <a:ea typeface="Arial"/>
                <a:cs typeface="Arial"/>
                <a:sym typeface="Arial"/>
              </a:defRPr>
            </a:lvl1pPr>
          </a:lstStyle>
          <a:p>
            <a:pPr/>
            <a:r>
              <a:t>Compare &amp; optimize</a:t>
            </a:r>
          </a:p>
        </p:txBody>
      </p:sp>
      <p:sp>
        <p:nvSpPr>
          <p:cNvPr id="145" name="Text 20"/>
          <p:cNvSpPr/>
          <p:nvPr/>
        </p:nvSpPr>
        <p:spPr>
          <a:xfrm>
            <a:off x="2882205" y="3969989"/>
            <a:ext cx="2329904" cy="720031"/>
          </a:xfrm>
          <a:prstGeom prst="roundRect">
            <a:avLst>
              <a:gd name="adj" fmla="val 10583"/>
            </a:avLst>
          </a:prstGeom>
          <a:solidFill>
            <a:srgbClr val="F0F4F8"/>
          </a:solidFill>
          <a:ln w="12700">
            <a:miter lim="400000"/>
          </a:ln>
        </p:spPr>
        <p:txBody>
          <a:bodyPr lIns="45719" rIns="45719" anchor="ctr"/>
          <a:lstStyle/>
          <a:p>
            <a:pPr/>
          </a:p>
        </p:txBody>
      </p:sp>
      <p:sp>
        <p:nvSpPr>
          <p:cNvPr id="146" name="Text 21"/>
          <p:cNvSpPr txBox="1"/>
          <p:nvPr/>
        </p:nvSpPr>
        <p:spPr>
          <a:xfrm>
            <a:off x="3015555" y="4141439"/>
            <a:ext cx="2104469" cy="17992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400"/>
              </a:lnSpc>
              <a:spcBef>
                <a:spcPts val="300"/>
              </a:spcBef>
              <a:defRPr b="1" sz="1400">
                <a:solidFill>
                  <a:srgbClr val="00D4FF"/>
                </a:solidFill>
                <a:latin typeface="Arial"/>
                <a:ea typeface="Arial"/>
                <a:cs typeface="Arial"/>
                <a:sym typeface="Arial"/>
              </a:defRPr>
            </a:lvl1pPr>
          </a:lstStyle>
          <a:p>
            <a:pPr/>
            <a:r>
              <a:t>✓ Open Source</a:t>
            </a:r>
          </a:p>
        </p:txBody>
      </p:sp>
      <p:sp>
        <p:nvSpPr>
          <p:cNvPr id="147" name="Text 22"/>
          <p:cNvSpPr txBox="1"/>
          <p:nvPr/>
        </p:nvSpPr>
        <p:spPr>
          <a:xfrm>
            <a:off x="3015555" y="4366171"/>
            <a:ext cx="2104469" cy="15421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200"/>
              </a:lnSpc>
              <a:spcBef>
                <a:spcPts val="300"/>
              </a:spcBef>
              <a:defRPr sz="1200">
                <a:solidFill>
                  <a:srgbClr val="1A2332"/>
                </a:solidFill>
                <a:latin typeface="Arial"/>
                <a:ea typeface="Arial"/>
                <a:cs typeface="Arial"/>
                <a:sym typeface="Arial"/>
              </a:defRPr>
            </a:lvl1pPr>
          </a:lstStyle>
          <a:p>
            <a:pPr/>
            <a:r>
              <a:t>MIT License</a:t>
            </a:r>
          </a:p>
        </p:txBody>
      </p:sp>
      <p:pic>
        <p:nvPicPr>
          <p:cNvPr id="148" name="Image 1" descr="Image 1"/>
          <p:cNvPicPr>
            <a:picLocks noChangeAspect="1"/>
          </p:cNvPicPr>
          <p:nvPr/>
        </p:nvPicPr>
        <p:blipFill>
          <a:blip r:embed="rId3">
            <a:extLst/>
          </a:blip>
          <a:stretch>
            <a:fillRect/>
          </a:stretch>
        </p:blipFill>
        <p:spPr>
          <a:xfrm>
            <a:off x="5516910" y="1924050"/>
            <a:ext cx="3169891" cy="1847850"/>
          </a:xfrm>
          <a:prstGeom prst="rect">
            <a:avLst/>
          </a:prstGeom>
          <a:ln w="12700">
            <a:miter lim="400000"/>
          </a:ln>
        </p:spPr>
      </p:pic>
      <p:sp>
        <p:nvSpPr>
          <p:cNvPr id="149" name="Text 23"/>
          <p:cNvSpPr txBox="1"/>
          <p:nvPr/>
        </p:nvSpPr>
        <p:spPr>
          <a:xfrm>
            <a:off x="5707410" y="2114550"/>
            <a:ext cx="2844669" cy="1697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spcBef>
                <a:spcPts val="900"/>
              </a:spcBef>
              <a:defRPr b="1" sz="1400">
                <a:solidFill>
                  <a:srgbClr val="00D4FF"/>
                </a:solidFill>
                <a:latin typeface="Arial"/>
                <a:ea typeface="Arial"/>
                <a:cs typeface="Arial"/>
                <a:sym typeface="Arial"/>
              </a:defRPr>
            </a:lvl1pPr>
          </a:lstStyle>
          <a:p>
            <a:pPr/>
            <a:r>
              <a:t>Use Cases</a:t>
            </a:r>
          </a:p>
        </p:txBody>
      </p:sp>
      <p:sp>
        <p:nvSpPr>
          <p:cNvPr id="150" name="Text 24"/>
          <p:cNvSpPr txBox="1"/>
          <p:nvPr/>
        </p:nvSpPr>
        <p:spPr>
          <a:xfrm>
            <a:off x="5738366" y="2383277"/>
            <a:ext cx="2726978" cy="13178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61913" indent="-61913">
              <a:lnSpc>
                <a:spcPts val="2100"/>
              </a:lnSpc>
              <a:buSzPct val="100000"/>
              <a:buChar char="•"/>
              <a:defRPr sz="1400">
                <a:solidFill>
                  <a:srgbClr val="FFFFFF"/>
                </a:solidFill>
                <a:latin typeface="Arial"/>
                <a:ea typeface="Arial"/>
                <a:cs typeface="Arial"/>
                <a:sym typeface="Arial"/>
              </a:defRPr>
            </a:pPr>
            <a:r>
              <a:t> Multi-VDB evaluation</a:t>
            </a:r>
          </a:p>
          <a:p>
            <a:pPr marL="61913" indent="-61913">
              <a:lnSpc>
                <a:spcPts val="2100"/>
              </a:lnSpc>
              <a:buSzPct val="100000"/>
              <a:buChar char="•"/>
              <a:defRPr sz="1400">
                <a:solidFill>
                  <a:srgbClr val="FFFFFF"/>
                </a:solidFill>
                <a:latin typeface="Arial"/>
                <a:ea typeface="Arial"/>
                <a:cs typeface="Arial"/>
                <a:sym typeface="Arial"/>
              </a:defRPr>
            </a:pPr>
            <a:r>
              <a:t> Provider migration</a:t>
            </a:r>
          </a:p>
          <a:p>
            <a:pPr marL="61913" indent="-61913">
              <a:lnSpc>
                <a:spcPts val="2100"/>
              </a:lnSpc>
              <a:buSzPct val="100000"/>
              <a:buChar char="•"/>
              <a:defRPr sz="1400">
                <a:solidFill>
                  <a:srgbClr val="FFFFFF"/>
                </a:solidFill>
                <a:latin typeface="Arial"/>
                <a:ea typeface="Arial"/>
                <a:cs typeface="Arial"/>
                <a:sym typeface="Arial"/>
              </a:defRPr>
            </a:pPr>
            <a:r>
              <a:t> RAG development</a:t>
            </a:r>
          </a:p>
          <a:p>
            <a:pPr marL="61913" indent="-61913">
              <a:lnSpc>
                <a:spcPts val="2100"/>
              </a:lnSpc>
              <a:buSzPct val="100000"/>
              <a:buChar char="•"/>
              <a:defRPr sz="1400">
                <a:solidFill>
                  <a:srgbClr val="FFFFFF"/>
                </a:solidFill>
                <a:latin typeface="Arial"/>
                <a:ea typeface="Arial"/>
                <a:cs typeface="Arial"/>
                <a:sym typeface="Arial"/>
              </a:defRPr>
            </a:pPr>
            <a:r>
              <a:t> Optimizing search (multi search) </a:t>
            </a:r>
          </a:p>
          <a:p>
            <a:pPr marL="61913" indent="-61913">
              <a:lnSpc>
                <a:spcPts val="2100"/>
              </a:lnSpc>
              <a:buSzPct val="100000"/>
              <a:buChar char="•"/>
              <a:defRPr sz="1400">
                <a:solidFill>
                  <a:srgbClr val="FFFFFF"/>
                </a:solidFill>
                <a:latin typeface="Arial"/>
                <a:ea typeface="Arial"/>
                <a:cs typeface="Arial"/>
                <a:sym typeface="Arial"/>
              </a:defRPr>
            </a:pPr>
            <a:r>
              <a:t> Benchmarking</a:t>
            </a:r>
          </a:p>
        </p:txBody>
      </p:sp>
      <p:sp>
        <p:nvSpPr>
          <p:cNvPr id="151" name="Text 25"/>
          <p:cNvSpPr/>
          <p:nvPr/>
        </p:nvSpPr>
        <p:spPr>
          <a:xfrm>
            <a:off x="5516910" y="3848100"/>
            <a:ext cx="3169891" cy="914400"/>
          </a:xfrm>
          <a:prstGeom prst="roundRect">
            <a:avLst>
              <a:gd name="adj" fmla="val 8333"/>
            </a:avLst>
          </a:prstGeom>
          <a:solidFill>
            <a:srgbClr val="7B2FFF"/>
          </a:solidFill>
          <a:ln w="12700">
            <a:miter lim="400000"/>
          </a:ln>
        </p:spPr>
        <p:txBody>
          <a:bodyPr lIns="45719" rIns="45719" anchor="ctr"/>
          <a:lstStyle/>
          <a:p>
            <a:pPr/>
          </a:p>
        </p:txBody>
      </p:sp>
      <p:sp>
        <p:nvSpPr>
          <p:cNvPr id="152" name="Text 26"/>
          <p:cNvSpPr txBox="1"/>
          <p:nvPr/>
        </p:nvSpPr>
        <p:spPr>
          <a:xfrm>
            <a:off x="5621227" y="4019550"/>
            <a:ext cx="2961255" cy="1900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500"/>
              </a:lnSpc>
              <a:spcBef>
                <a:spcPts val="300"/>
              </a:spcBef>
              <a:defRPr sz="1400">
                <a:solidFill>
                  <a:srgbClr val="FFFFFF"/>
                </a:solidFill>
                <a:latin typeface="Arial"/>
                <a:ea typeface="Arial"/>
                <a:cs typeface="Arial"/>
                <a:sym typeface="Arial"/>
              </a:defRPr>
            </a:lvl1pPr>
          </a:lstStyle>
          <a:p>
            <a:pPr/>
            <a:r>
              <a:t>Integration Time</a:t>
            </a:r>
          </a:p>
        </p:txBody>
      </p:sp>
      <p:sp>
        <p:nvSpPr>
          <p:cNvPr id="153" name="Text 27"/>
          <p:cNvSpPr txBox="1"/>
          <p:nvPr/>
        </p:nvSpPr>
        <p:spPr>
          <a:xfrm>
            <a:off x="5621227" y="4248150"/>
            <a:ext cx="2961255" cy="3335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2700"/>
              </a:lnSpc>
              <a:spcBef>
                <a:spcPts val="300"/>
              </a:spcBef>
              <a:defRPr b="1" sz="2200">
                <a:solidFill>
                  <a:srgbClr val="00D4FF"/>
                </a:solidFill>
                <a:latin typeface="Arial"/>
                <a:ea typeface="Arial"/>
                <a:cs typeface="Arial"/>
                <a:sym typeface="Arial"/>
              </a:defRPr>
            </a:lvl1pPr>
          </a:lstStyle>
          <a:p>
            <a:pPr/>
            <a:r>
              <a:t>~10x Faster</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55" name="Text 0"/>
          <p:cNvSpPr txBox="1"/>
          <p:nvPr/>
        </p:nvSpPr>
        <p:spPr>
          <a:xfrm>
            <a:off x="2706474" y="307776"/>
            <a:ext cx="3730754" cy="4626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3600"/>
              </a:lnSpc>
              <a:spcBef>
                <a:spcPts val="1500"/>
              </a:spcBef>
              <a:defRPr b="1" sz="3600">
                <a:solidFill>
                  <a:srgbClr val="00D4FF"/>
                </a:solidFill>
                <a:latin typeface="Arial"/>
                <a:ea typeface="Arial"/>
                <a:cs typeface="Arial"/>
                <a:sym typeface="Arial"/>
              </a:defRPr>
            </a:lvl1pPr>
          </a:lstStyle>
          <a:p>
            <a:pPr/>
            <a:r>
              <a:t>Live Demo Time!</a:t>
            </a:r>
          </a:p>
        </p:txBody>
      </p:sp>
      <p:sp>
        <p:nvSpPr>
          <p:cNvPr id="156" name="Text 1"/>
          <p:cNvSpPr/>
          <p:nvPr/>
        </p:nvSpPr>
        <p:spPr>
          <a:xfrm>
            <a:off x="3501999" y="996300"/>
            <a:ext cx="2171701" cy="2171701"/>
          </a:xfrm>
          <a:prstGeom prst="roundRect">
            <a:avLst>
              <a:gd name="adj" fmla="val 7018"/>
            </a:avLst>
          </a:prstGeom>
          <a:solidFill>
            <a:srgbClr val="FFFFFF"/>
          </a:solidFill>
          <a:ln w="12700">
            <a:miter lim="400000"/>
          </a:ln>
        </p:spPr>
        <p:txBody>
          <a:bodyPr lIns="45719" rIns="45719" anchor="ctr"/>
          <a:lstStyle/>
          <a:p>
            <a:pPr/>
          </a:p>
        </p:txBody>
      </p:sp>
      <p:pic>
        <p:nvPicPr>
          <p:cNvPr id="157" name="Image 0" descr="Image 0"/>
          <p:cNvPicPr>
            <a:picLocks noChangeAspect="1"/>
          </p:cNvPicPr>
          <p:nvPr/>
        </p:nvPicPr>
        <p:blipFill>
          <a:blip r:embed="rId3">
            <a:extLst/>
          </a:blip>
          <a:stretch>
            <a:fillRect/>
          </a:stretch>
        </p:blipFill>
        <p:spPr>
          <a:xfrm>
            <a:off x="3680950" y="1175251"/>
            <a:ext cx="1845797" cy="1845797"/>
          </a:xfrm>
          <a:prstGeom prst="rect">
            <a:avLst/>
          </a:prstGeom>
          <a:ln w="12700">
            <a:miter lim="400000"/>
          </a:ln>
        </p:spPr>
      </p:pic>
      <p:sp>
        <p:nvSpPr>
          <p:cNvPr id="158" name="Text 2"/>
          <p:cNvSpPr txBox="1"/>
          <p:nvPr/>
        </p:nvSpPr>
        <p:spPr>
          <a:xfrm>
            <a:off x="2579716" y="3393876"/>
            <a:ext cx="3984419" cy="3271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2400"/>
              </a:lnSpc>
              <a:spcBef>
                <a:spcPts val="600"/>
              </a:spcBef>
              <a:defRPr>
                <a:solidFill>
                  <a:srgbClr val="FFFFFF"/>
                </a:solidFill>
                <a:latin typeface="Arial"/>
                <a:ea typeface="Arial"/>
                <a:cs typeface="Arial"/>
                <a:sym typeface="Arial"/>
              </a:defRPr>
            </a:lvl1pPr>
          </a:lstStyle>
          <a:p>
            <a:pPr/>
            <a:r>
              <a:t>⭐ Star us on GitHub</a:t>
            </a:r>
          </a:p>
        </p:txBody>
      </p:sp>
      <p:sp>
        <p:nvSpPr>
          <p:cNvPr id="159" name="Text 3"/>
          <p:cNvSpPr txBox="1"/>
          <p:nvPr/>
        </p:nvSpPr>
        <p:spPr>
          <a:xfrm>
            <a:off x="2579716" y="3774876"/>
            <a:ext cx="3984419" cy="2537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lnSpc>
                <a:spcPts val="2100"/>
              </a:lnSpc>
              <a:spcBef>
                <a:spcPts val="1200"/>
              </a:spcBef>
              <a:defRPr sz="1500">
                <a:solidFill>
                  <a:srgbClr val="FFFFFF"/>
                </a:solidFill>
                <a:latin typeface="Arial"/>
                <a:ea typeface="Arial"/>
                <a:cs typeface="Arial"/>
                <a:sym typeface="Arial"/>
              </a:defRPr>
            </a:pPr>
            <a:r>
              <a:rPr u="sng">
                <a:solidFill>
                  <a:srgbClr val="0563C1"/>
                </a:solidFill>
                <a:uFill>
                  <a:solidFill>
                    <a:srgbClr val="0563C1"/>
                  </a:solidFill>
                </a:uFill>
                <a:hlinkClick r:id="rId4" invalidUrl="" action="" tgtFrame="" tooltip="" history="1" highlightClick="0" endSnd="0"/>
              </a:rPr>
              <a:t>github.com/maximilien/weave-cli</a:t>
            </a:r>
            <a:r>
              <a:t> </a:t>
            </a:r>
          </a:p>
        </p:txBody>
      </p:sp>
      <p:sp>
        <p:nvSpPr>
          <p:cNvPr id="160" name="Text 4"/>
          <p:cNvSpPr/>
          <p:nvPr/>
        </p:nvSpPr>
        <p:spPr>
          <a:xfrm>
            <a:off x="2618780" y="4193976"/>
            <a:ext cx="1242865" cy="641897"/>
          </a:xfrm>
          <a:prstGeom prst="roundRect">
            <a:avLst>
              <a:gd name="adj" fmla="val 11871"/>
            </a:avLst>
          </a:prstGeom>
          <a:solidFill>
            <a:srgbClr val="00D4FF">
              <a:alpha val="20000"/>
            </a:srgbClr>
          </a:solidFill>
          <a:ln w="12700">
            <a:miter lim="400000"/>
          </a:ln>
        </p:spPr>
        <p:txBody>
          <a:bodyPr lIns="45719" rIns="45719" anchor="ctr"/>
          <a:lstStyle/>
          <a:p>
            <a:pPr/>
          </a:p>
        </p:txBody>
      </p:sp>
      <p:sp>
        <p:nvSpPr>
          <p:cNvPr id="161" name="Text 5"/>
          <p:cNvSpPr txBox="1"/>
          <p:nvPr/>
        </p:nvSpPr>
        <p:spPr>
          <a:xfrm>
            <a:off x="2800661" y="4327326"/>
            <a:ext cx="879102" cy="1846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500"/>
              </a:lnSpc>
              <a:spcBef>
                <a:spcPts val="300"/>
              </a:spcBef>
              <a:defRPr b="1" sz="1200">
                <a:solidFill>
                  <a:srgbClr val="00D4FF"/>
                </a:solidFill>
                <a:latin typeface="Arial"/>
                <a:ea typeface="Arial"/>
                <a:cs typeface="Arial"/>
                <a:sym typeface="Arial"/>
              </a:defRPr>
            </a:lvl1pPr>
          </a:lstStyle>
          <a:p>
            <a:pPr/>
            <a:r>
              <a:t>Fast Setup</a:t>
            </a:r>
          </a:p>
        </p:txBody>
      </p:sp>
      <p:sp>
        <p:nvSpPr>
          <p:cNvPr id="162" name="Text 6"/>
          <p:cNvSpPr txBox="1"/>
          <p:nvPr/>
        </p:nvSpPr>
        <p:spPr>
          <a:xfrm>
            <a:off x="2755229" y="4555926"/>
            <a:ext cx="969966" cy="13598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100"/>
              </a:lnSpc>
              <a:spcBef>
                <a:spcPts val="300"/>
              </a:spcBef>
              <a:defRPr sz="900">
                <a:solidFill>
                  <a:srgbClr val="FFFFFF"/>
                </a:solidFill>
                <a:latin typeface="Arial"/>
                <a:ea typeface="Arial"/>
                <a:cs typeface="Arial"/>
                <a:sym typeface="Arial"/>
              </a:defRPr>
            </a:lvl1pPr>
          </a:lstStyle>
          <a:p>
            <a:pPr/>
            <a:r>
              <a:t>5 min to first query</a:t>
            </a:r>
          </a:p>
        </p:txBody>
      </p:sp>
      <p:sp>
        <p:nvSpPr>
          <p:cNvPr id="163" name="Text 7"/>
          <p:cNvSpPr/>
          <p:nvPr/>
        </p:nvSpPr>
        <p:spPr>
          <a:xfrm>
            <a:off x="4052142" y="4193976"/>
            <a:ext cx="1071415" cy="641897"/>
          </a:xfrm>
          <a:prstGeom prst="roundRect">
            <a:avLst>
              <a:gd name="adj" fmla="val 11871"/>
            </a:avLst>
          </a:prstGeom>
          <a:solidFill>
            <a:srgbClr val="7B2FFF">
              <a:alpha val="20000"/>
            </a:srgbClr>
          </a:solidFill>
          <a:ln w="12700">
            <a:miter lim="400000"/>
          </a:ln>
        </p:spPr>
        <p:txBody>
          <a:bodyPr lIns="45719" rIns="45719" anchor="ctr"/>
          <a:lstStyle/>
          <a:p>
            <a:pPr/>
          </a:p>
        </p:txBody>
      </p:sp>
      <p:sp>
        <p:nvSpPr>
          <p:cNvPr id="164" name="Text 8"/>
          <p:cNvSpPr txBox="1"/>
          <p:nvPr/>
        </p:nvSpPr>
        <p:spPr>
          <a:xfrm>
            <a:off x="4175476" y="4327326"/>
            <a:ext cx="824748" cy="1846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500"/>
              </a:lnSpc>
              <a:spcBef>
                <a:spcPts val="300"/>
              </a:spcBef>
              <a:defRPr b="1" sz="1200">
                <a:solidFill>
                  <a:srgbClr val="7B2FFF"/>
                </a:solidFill>
                <a:latin typeface="Arial"/>
                <a:ea typeface="Arial"/>
                <a:cs typeface="Arial"/>
                <a:sym typeface="Arial"/>
              </a:defRPr>
            </a:lvl1pPr>
          </a:lstStyle>
          <a:p>
            <a:pPr/>
            <a:r>
              <a:t>Multi-VDB</a:t>
            </a:r>
          </a:p>
        </p:txBody>
      </p:sp>
      <p:sp>
        <p:nvSpPr>
          <p:cNvPr id="165" name="Text 9"/>
          <p:cNvSpPr txBox="1"/>
          <p:nvPr/>
        </p:nvSpPr>
        <p:spPr>
          <a:xfrm>
            <a:off x="4235739" y="4555926"/>
            <a:ext cx="704223" cy="13598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100"/>
              </a:lnSpc>
              <a:spcBef>
                <a:spcPts val="300"/>
              </a:spcBef>
              <a:defRPr sz="900">
                <a:solidFill>
                  <a:srgbClr val="FFFFFF"/>
                </a:solidFill>
                <a:latin typeface="Arial"/>
                <a:ea typeface="Arial"/>
                <a:cs typeface="Arial"/>
                <a:sym typeface="Arial"/>
              </a:defRPr>
            </a:lvl1pPr>
          </a:lstStyle>
          <a:p>
            <a:pPr/>
            <a:r>
              <a:t>10+ VDBs</a:t>
            </a:r>
          </a:p>
        </p:txBody>
      </p:sp>
      <p:sp>
        <p:nvSpPr>
          <p:cNvPr id="166" name="Text 10"/>
          <p:cNvSpPr/>
          <p:nvPr/>
        </p:nvSpPr>
        <p:spPr>
          <a:xfrm>
            <a:off x="5314057" y="4193976"/>
            <a:ext cx="1211014" cy="641897"/>
          </a:xfrm>
          <a:prstGeom prst="roundRect">
            <a:avLst>
              <a:gd name="adj" fmla="val 11871"/>
            </a:avLst>
          </a:prstGeom>
          <a:solidFill>
            <a:srgbClr val="00D4FF">
              <a:alpha val="20000"/>
            </a:srgbClr>
          </a:solidFill>
          <a:ln w="12700">
            <a:miter lim="400000"/>
          </a:ln>
        </p:spPr>
        <p:txBody>
          <a:bodyPr lIns="45719" rIns="45719" anchor="ctr"/>
          <a:lstStyle/>
          <a:p>
            <a:pPr/>
          </a:p>
        </p:txBody>
      </p:sp>
      <p:sp>
        <p:nvSpPr>
          <p:cNvPr id="167" name="Text 11"/>
          <p:cNvSpPr txBox="1"/>
          <p:nvPr/>
        </p:nvSpPr>
        <p:spPr>
          <a:xfrm>
            <a:off x="5434581" y="4327326"/>
            <a:ext cx="969966" cy="1846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500"/>
              </a:lnSpc>
              <a:spcBef>
                <a:spcPts val="300"/>
              </a:spcBef>
              <a:defRPr b="1" sz="1200">
                <a:solidFill>
                  <a:srgbClr val="00D4FF"/>
                </a:solidFill>
                <a:latin typeface="Arial"/>
                <a:ea typeface="Arial"/>
                <a:cs typeface="Arial"/>
                <a:sym typeface="Arial"/>
              </a:defRPr>
            </a:lvl1pPr>
          </a:lstStyle>
          <a:p>
            <a:pPr/>
            <a:r>
              <a:t>Open Source</a:t>
            </a:r>
          </a:p>
        </p:txBody>
      </p:sp>
      <p:sp>
        <p:nvSpPr>
          <p:cNvPr id="168" name="Text 12"/>
          <p:cNvSpPr txBox="1"/>
          <p:nvPr/>
        </p:nvSpPr>
        <p:spPr>
          <a:xfrm>
            <a:off x="5497652" y="4555926"/>
            <a:ext cx="846616" cy="13598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100"/>
              </a:lnSpc>
              <a:spcBef>
                <a:spcPts val="300"/>
              </a:spcBef>
              <a:defRPr sz="900">
                <a:solidFill>
                  <a:srgbClr val="FFFFFF"/>
                </a:solidFill>
                <a:latin typeface="Arial"/>
                <a:ea typeface="Arial"/>
                <a:cs typeface="Arial"/>
                <a:sym typeface="Arial"/>
              </a:defRPr>
            </a:lvl1pPr>
          </a:lstStyle>
          <a:p>
            <a:pPr/>
            <a:r>
              <a:t>MIT License</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